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 id="272" r:id="rId16"/>
    <p:sldId id="261" r:id="rId17"/>
    <p:sldId id="273" r:id="rId1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247F3A-F260-41BD-9D72-3A3F1679FD26}" v="623" dt="2023-05-17T06:41:31.4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xml" Id="rId3" /><Relationship Type="http://schemas.openxmlformats.org/officeDocument/2006/relationships/theme" Target="theme/theme1.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viewProps" Target="viewProps.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microsoft.com/office/2015/10/relationships/revisionInfo" Target="revisionInfo.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slide" Target="slides/slide9.xml" Id="rId10" /><Relationship Type="http://schemas.openxmlformats.org/officeDocument/2006/relationships/presProps" Target="presProps.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tableStyles" Target="tableStyles.xml" Id="rId22"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28EC99-51FA-450D-B59E-50DFBF7C597C}"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C11A2E9C-645E-4293-B8CF-B9242746B4A3}">
      <dgm:prSet/>
      <dgm:spPr/>
      <dgm:t>
        <a:bodyPr/>
        <a:lstStyle/>
        <a:p>
          <a:pPr rtl="0"/>
          <a:r>
            <a:rPr lang="tr-TR" dirty="0">
              <a:latin typeface="Avenir Next LT Pro"/>
            </a:rPr>
            <a:t> </a:t>
          </a:r>
          <a:r>
            <a:rPr lang="tr-TR" dirty="0"/>
            <a:t>Macaristan'ın başkenti </a:t>
          </a:r>
          <a:r>
            <a:rPr lang="tr-TR" dirty="0" err="1"/>
            <a:t>Budin</a:t>
          </a:r>
          <a:r>
            <a:rPr lang="tr-TR" dirty="0"/>
            <a:t> fethedildi.</a:t>
          </a:r>
          <a:endParaRPr lang="en-US" dirty="0"/>
        </a:p>
      </dgm:t>
    </dgm:pt>
    <dgm:pt modelId="{B259ECF2-0E57-4552-B0FB-B50A8EFF2090}" type="parTrans" cxnId="{ACC128D4-1DB3-4E83-BA85-62CD6E304B33}">
      <dgm:prSet/>
      <dgm:spPr/>
      <dgm:t>
        <a:bodyPr/>
        <a:lstStyle/>
        <a:p>
          <a:endParaRPr lang="en-US"/>
        </a:p>
      </dgm:t>
    </dgm:pt>
    <dgm:pt modelId="{E998C0A1-994F-4C6B-88C6-7AD1D5EA124A}" type="sibTrans" cxnId="{ACC128D4-1DB3-4E83-BA85-62CD6E304B33}">
      <dgm:prSet/>
      <dgm:spPr/>
      <dgm:t>
        <a:bodyPr/>
        <a:lstStyle/>
        <a:p>
          <a:endParaRPr lang="en-US"/>
        </a:p>
      </dgm:t>
    </dgm:pt>
    <dgm:pt modelId="{05FB6730-6463-4C0E-A06F-C7EA663EEFDE}">
      <dgm:prSet/>
      <dgm:spPr/>
      <dgm:t>
        <a:bodyPr/>
        <a:lstStyle/>
        <a:p>
          <a:r>
            <a:rPr lang="tr-TR" dirty="0">
              <a:latin typeface="Avenir Next LT Pro"/>
            </a:rPr>
            <a:t>Macaristan</a:t>
          </a:r>
          <a:r>
            <a:rPr lang="tr-TR" dirty="0"/>
            <a:t>, Osmanlı Devleti'ne bağlandı.</a:t>
          </a:r>
          <a:endParaRPr lang="en-US" dirty="0"/>
        </a:p>
      </dgm:t>
    </dgm:pt>
    <dgm:pt modelId="{068DC250-7B08-4296-B560-BEA8C09C8837}" type="parTrans" cxnId="{798AC3B1-1E2F-46C9-8D6F-AE6458271C9A}">
      <dgm:prSet/>
      <dgm:spPr/>
      <dgm:t>
        <a:bodyPr/>
        <a:lstStyle/>
        <a:p>
          <a:endParaRPr lang="en-US"/>
        </a:p>
      </dgm:t>
    </dgm:pt>
    <dgm:pt modelId="{1A2843AA-C8EF-476C-A0D6-91F2A8E2ADAA}" type="sibTrans" cxnId="{798AC3B1-1E2F-46C9-8D6F-AE6458271C9A}">
      <dgm:prSet/>
      <dgm:spPr/>
      <dgm:t>
        <a:bodyPr/>
        <a:lstStyle/>
        <a:p>
          <a:endParaRPr lang="en-US"/>
        </a:p>
      </dgm:t>
    </dgm:pt>
    <dgm:pt modelId="{0E21D3B4-B124-47FB-9248-349CEF3241A3}">
      <dgm:prSet/>
      <dgm:spPr/>
      <dgm:t>
        <a:bodyPr/>
        <a:lstStyle/>
        <a:p>
          <a:r>
            <a:rPr lang="tr-TR" dirty="0"/>
            <a:t>Macar tahtına Jan </a:t>
          </a:r>
          <a:r>
            <a:rPr lang="tr-TR" dirty="0" err="1"/>
            <a:t>Zapolya</a:t>
          </a:r>
          <a:r>
            <a:rPr lang="tr-TR" dirty="0"/>
            <a:t> (</a:t>
          </a:r>
          <a:r>
            <a:rPr lang="tr-TR" dirty="0" err="1"/>
            <a:t>Yanoş</a:t>
          </a:r>
          <a:r>
            <a:rPr lang="tr-TR" dirty="0"/>
            <a:t>) getirildi.</a:t>
          </a:r>
          <a:endParaRPr lang="en-US" dirty="0"/>
        </a:p>
      </dgm:t>
    </dgm:pt>
    <dgm:pt modelId="{160EFBCD-00A7-4FFA-929B-28E2B348165F}" type="parTrans" cxnId="{1DB5ADE2-DF21-4A3D-8A74-4A97BAC7C876}">
      <dgm:prSet/>
      <dgm:spPr/>
      <dgm:t>
        <a:bodyPr/>
        <a:lstStyle/>
        <a:p>
          <a:endParaRPr lang="en-US"/>
        </a:p>
      </dgm:t>
    </dgm:pt>
    <dgm:pt modelId="{D7D0A8BD-0A7D-449C-8948-8BF2C86BA34E}" type="sibTrans" cxnId="{1DB5ADE2-DF21-4A3D-8A74-4A97BAC7C876}">
      <dgm:prSet/>
      <dgm:spPr/>
      <dgm:t>
        <a:bodyPr/>
        <a:lstStyle/>
        <a:p>
          <a:endParaRPr lang="en-US"/>
        </a:p>
      </dgm:t>
    </dgm:pt>
    <dgm:pt modelId="{94ECA3E2-A0D0-467D-A327-FD8C9D1F6D28}">
      <dgm:prSet/>
      <dgm:spPr/>
      <dgm:t>
        <a:bodyPr/>
        <a:lstStyle/>
        <a:p>
          <a:r>
            <a:rPr lang="tr-TR" dirty="0">
              <a:latin typeface="Avenir Next LT Pro"/>
            </a:rPr>
            <a:t>Osmanlıların</a:t>
          </a:r>
          <a:r>
            <a:rPr lang="tr-TR" dirty="0"/>
            <a:t> Orta Avrupa'daki hakimiyeti güçlendi.</a:t>
          </a:r>
          <a:endParaRPr lang="en-US" dirty="0"/>
        </a:p>
      </dgm:t>
    </dgm:pt>
    <dgm:pt modelId="{075AED8C-AC75-49B4-98F1-34AB3567886C}" type="parTrans" cxnId="{FD845434-4A32-439A-AA9A-33E15BD051C9}">
      <dgm:prSet/>
      <dgm:spPr/>
      <dgm:t>
        <a:bodyPr/>
        <a:lstStyle/>
        <a:p>
          <a:endParaRPr lang="en-US"/>
        </a:p>
      </dgm:t>
    </dgm:pt>
    <dgm:pt modelId="{F61420B3-D74E-4726-82D9-E28BF400F64E}" type="sibTrans" cxnId="{FD845434-4A32-439A-AA9A-33E15BD051C9}">
      <dgm:prSet/>
      <dgm:spPr/>
      <dgm:t>
        <a:bodyPr/>
        <a:lstStyle/>
        <a:p>
          <a:endParaRPr lang="en-US"/>
        </a:p>
      </dgm:t>
    </dgm:pt>
    <dgm:pt modelId="{B522EFF8-08AD-452D-91AF-1FB8A65E846A}">
      <dgm:prSet/>
      <dgm:spPr/>
      <dgm:t>
        <a:bodyPr/>
        <a:lstStyle/>
        <a:p>
          <a:r>
            <a:rPr lang="tr-TR" dirty="0">
              <a:latin typeface="Avenir Next LT Pro"/>
            </a:rPr>
            <a:t>Osmanlı-Avusturya</a:t>
          </a:r>
          <a:r>
            <a:rPr lang="tr-TR" dirty="0"/>
            <a:t> mücadelesi başladı.</a:t>
          </a:r>
          <a:endParaRPr lang="en-US" dirty="0"/>
        </a:p>
      </dgm:t>
    </dgm:pt>
    <dgm:pt modelId="{0BB1959C-125E-419D-9C79-D586696E66F1}" type="parTrans" cxnId="{89567FCA-B706-4DC0-BD22-CC48BCD34D68}">
      <dgm:prSet/>
      <dgm:spPr/>
      <dgm:t>
        <a:bodyPr/>
        <a:lstStyle/>
        <a:p>
          <a:endParaRPr lang="en-US"/>
        </a:p>
      </dgm:t>
    </dgm:pt>
    <dgm:pt modelId="{ABCD5CBC-9858-42DF-B2C2-4C5530B74513}" type="sibTrans" cxnId="{89567FCA-B706-4DC0-BD22-CC48BCD34D68}">
      <dgm:prSet/>
      <dgm:spPr/>
      <dgm:t>
        <a:bodyPr/>
        <a:lstStyle/>
        <a:p>
          <a:endParaRPr lang="en-US"/>
        </a:p>
      </dgm:t>
    </dgm:pt>
    <dgm:pt modelId="{8D40410E-7D05-4719-9514-F9A03D158ABF}" type="pres">
      <dgm:prSet presAssocID="{5A28EC99-51FA-450D-B59E-50DFBF7C597C}" presName="outerComposite" presStyleCnt="0">
        <dgm:presLayoutVars>
          <dgm:chMax val="5"/>
          <dgm:dir/>
          <dgm:resizeHandles val="exact"/>
        </dgm:presLayoutVars>
      </dgm:prSet>
      <dgm:spPr/>
    </dgm:pt>
    <dgm:pt modelId="{C548DD68-21D5-436F-8C31-C990BE264B04}" type="pres">
      <dgm:prSet presAssocID="{5A28EC99-51FA-450D-B59E-50DFBF7C597C}" presName="dummyMaxCanvas" presStyleCnt="0">
        <dgm:presLayoutVars/>
      </dgm:prSet>
      <dgm:spPr/>
    </dgm:pt>
    <dgm:pt modelId="{6B5FAE80-6C3A-4572-BCB4-61DEE5B6D935}" type="pres">
      <dgm:prSet presAssocID="{5A28EC99-51FA-450D-B59E-50DFBF7C597C}" presName="FiveNodes_1" presStyleLbl="node1" presStyleIdx="0" presStyleCnt="5">
        <dgm:presLayoutVars>
          <dgm:bulletEnabled val="1"/>
        </dgm:presLayoutVars>
      </dgm:prSet>
      <dgm:spPr/>
    </dgm:pt>
    <dgm:pt modelId="{849AB628-1649-4C79-B527-A7E699727D97}" type="pres">
      <dgm:prSet presAssocID="{5A28EC99-51FA-450D-B59E-50DFBF7C597C}" presName="FiveNodes_2" presStyleLbl="node1" presStyleIdx="1" presStyleCnt="5">
        <dgm:presLayoutVars>
          <dgm:bulletEnabled val="1"/>
        </dgm:presLayoutVars>
      </dgm:prSet>
      <dgm:spPr/>
    </dgm:pt>
    <dgm:pt modelId="{246C1A4B-72BB-4D86-B02E-229C1781A876}" type="pres">
      <dgm:prSet presAssocID="{5A28EC99-51FA-450D-B59E-50DFBF7C597C}" presName="FiveNodes_3" presStyleLbl="node1" presStyleIdx="2" presStyleCnt="5">
        <dgm:presLayoutVars>
          <dgm:bulletEnabled val="1"/>
        </dgm:presLayoutVars>
      </dgm:prSet>
      <dgm:spPr/>
    </dgm:pt>
    <dgm:pt modelId="{1C062929-2D9B-421A-BEE7-5B2DAD88DA41}" type="pres">
      <dgm:prSet presAssocID="{5A28EC99-51FA-450D-B59E-50DFBF7C597C}" presName="FiveNodes_4" presStyleLbl="node1" presStyleIdx="3" presStyleCnt="5">
        <dgm:presLayoutVars>
          <dgm:bulletEnabled val="1"/>
        </dgm:presLayoutVars>
      </dgm:prSet>
      <dgm:spPr/>
    </dgm:pt>
    <dgm:pt modelId="{2837A5F0-403A-4C5D-840C-1155E3AB18E8}" type="pres">
      <dgm:prSet presAssocID="{5A28EC99-51FA-450D-B59E-50DFBF7C597C}" presName="FiveNodes_5" presStyleLbl="node1" presStyleIdx="4" presStyleCnt="5">
        <dgm:presLayoutVars>
          <dgm:bulletEnabled val="1"/>
        </dgm:presLayoutVars>
      </dgm:prSet>
      <dgm:spPr/>
    </dgm:pt>
    <dgm:pt modelId="{EDC041F0-71AF-4B8D-AC57-8EF036244671}" type="pres">
      <dgm:prSet presAssocID="{5A28EC99-51FA-450D-B59E-50DFBF7C597C}" presName="FiveConn_1-2" presStyleLbl="fgAccFollowNode1" presStyleIdx="0" presStyleCnt="4">
        <dgm:presLayoutVars>
          <dgm:bulletEnabled val="1"/>
        </dgm:presLayoutVars>
      </dgm:prSet>
      <dgm:spPr/>
    </dgm:pt>
    <dgm:pt modelId="{6B991FC6-B192-40C7-B4A4-41DEA572D535}" type="pres">
      <dgm:prSet presAssocID="{5A28EC99-51FA-450D-B59E-50DFBF7C597C}" presName="FiveConn_2-3" presStyleLbl="fgAccFollowNode1" presStyleIdx="1" presStyleCnt="4">
        <dgm:presLayoutVars>
          <dgm:bulletEnabled val="1"/>
        </dgm:presLayoutVars>
      </dgm:prSet>
      <dgm:spPr/>
    </dgm:pt>
    <dgm:pt modelId="{4F61A079-FA62-4E99-9164-BA3A0D1003B8}" type="pres">
      <dgm:prSet presAssocID="{5A28EC99-51FA-450D-B59E-50DFBF7C597C}" presName="FiveConn_3-4" presStyleLbl="fgAccFollowNode1" presStyleIdx="2" presStyleCnt="4">
        <dgm:presLayoutVars>
          <dgm:bulletEnabled val="1"/>
        </dgm:presLayoutVars>
      </dgm:prSet>
      <dgm:spPr/>
    </dgm:pt>
    <dgm:pt modelId="{2BE7026A-060B-4114-B64F-0038D2327BF8}" type="pres">
      <dgm:prSet presAssocID="{5A28EC99-51FA-450D-B59E-50DFBF7C597C}" presName="FiveConn_4-5" presStyleLbl="fgAccFollowNode1" presStyleIdx="3" presStyleCnt="4">
        <dgm:presLayoutVars>
          <dgm:bulletEnabled val="1"/>
        </dgm:presLayoutVars>
      </dgm:prSet>
      <dgm:spPr/>
    </dgm:pt>
    <dgm:pt modelId="{D2EABCE3-6392-4421-957F-FD744AD24EE0}" type="pres">
      <dgm:prSet presAssocID="{5A28EC99-51FA-450D-B59E-50DFBF7C597C}" presName="FiveNodes_1_text" presStyleLbl="node1" presStyleIdx="4" presStyleCnt="5">
        <dgm:presLayoutVars>
          <dgm:bulletEnabled val="1"/>
        </dgm:presLayoutVars>
      </dgm:prSet>
      <dgm:spPr/>
    </dgm:pt>
    <dgm:pt modelId="{9865977B-86F4-43D1-9F27-E60BCC92EAE3}" type="pres">
      <dgm:prSet presAssocID="{5A28EC99-51FA-450D-B59E-50DFBF7C597C}" presName="FiveNodes_2_text" presStyleLbl="node1" presStyleIdx="4" presStyleCnt="5">
        <dgm:presLayoutVars>
          <dgm:bulletEnabled val="1"/>
        </dgm:presLayoutVars>
      </dgm:prSet>
      <dgm:spPr/>
    </dgm:pt>
    <dgm:pt modelId="{AABBB8A6-A0A6-4814-9F96-3B9573403C00}" type="pres">
      <dgm:prSet presAssocID="{5A28EC99-51FA-450D-B59E-50DFBF7C597C}" presName="FiveNodes_3_text" presStyleLbl="node1" presStyleIdx="4" presStyleCnt="5">
        <dgm:presLayoutVars>
          <dgm:bulletEnabled val="1"/>
        </dgm:presLayoutVars>
      </dgm:prSet>
      <dgm:spPr/>
    </dgm:pt>
    <dgm:pt modelId="{4BD0FA78-6572-4E1F-AA19-32665558F2BC}" type="pres">
      <dgm:prSet presAssocID="{5A28EC99-51FA-450D-B59E-50DFBF7C597C}" presName="FiveNodes_4_text" presStyleLbl="node1" presStyleIdx="4" presStyleCnt="5">
        <dgm:presLayoutVars>
          <dgm:bulletEnabled val="1"/>
        </dgm:presLayoutVars>
      </dgm:prSet>
      <dgm:spPr/>
    </dgm:pt>
    <dgm:pt modelId="{DF7EEF9B-F2FD-46EE-BAE4-0869AA7965CA}" type="pres">
      <dgm:prSet presAssocID="{5A28EC99-51FA-450D-B59E-50DFBF7C597C}" presName="FiveNodes_5_text" presStyleLbl="node1" presStyleIdx="4" presStyleCnt="5">
        <dgm:presLayoutVars>
          <dgm:bulletEnabled val="1"/>
        </dgm:presLayoutVars>
      </dgm:prSet>
      <dgm:spPr/>
    </dgm:pt>
  </dgm:ptLst>
  <dgm:cxnLst>
    <dgm:cxn modelId="{AC34C409-D3E5-44F7-970B-AB3AD43A5CAA}" type="presOf" srcId="{0E21D3B4-B124-47FB-9248-349CEF3241A3}" destId="{246C1A4B-72BB-4D86-B02E-229C1781A876}" srcOrd="0" destOrd="0" presId="urn:microsoft.com/office/officeart/2005/8/layout/vProcess5"/>
    <dgm:cxn modelId="{217B9015-0783-4ACC-B2EC-135324F4DA04}" type="presOf" srcId="{94ECA3E2-A0D0-467D-A327-FD8C9D1F6D28}" destId="{4BD0FA78-6572-4E1F-AA19-32665558F2BC}" srcOrd="1" destOrd="0" presId="urn:microsoft.com/office/officeart/2005/8/layout/vProcess5"/>
    <dgm:cxn modelId="{FE552D1C-D74C-4E9E-BE40-9AEB5D403A53}" type="presOf" srcId="{1A2843AA-C8EF-476C-A0D6-91F2A8E2ADAA}" destId="{6B991FC6-B192-40C7-B4A4-41DEA572D535}" srcOrd="0" destOrd="0" presId="urn:microsoft.com/office/officeart/2005/8/layout/vProcess5"/>
    <dgm:cxn modelId="{FD845434-4A32-439A-AA9A-33E15BD051C9}" srcId="{5A28EC99-51FA-450D-B59E-50DFBF7C597C}" destId="{94ECA3E2-A0D0-467D-A327-FD8C9D1F6D28}" srcOrd="3" destOrd="0" parTransId="{075AED8C-AC75-49B4-98F1-34AB3567886C}" sibTransId="{F61420B3-D74E-4726-82D9-E28BF400F64E}"/>
    <dgm:cxn modelId="{B1F7994B-41C5-46BB-80BF-258A82B5EEA9}" type="presOf" srcId="{5A28EC99-51FA-450D-B59E-50DFBF7C597C}" destId="{8D40410E-7D05-4719-9514-F9A03D158ABF}" srcOrd="0" destOrd="0" presId="urn:microsoft.com/office/officeart/2005/8/layout/vProcess5"/>
    <dgm:cxn modelId="{259E0555-F405-4C87-9027-78A77862A6A4}" type="presOf" srcId="{D7D0A8BD-0A7D-449C-8948-8BF2C86BA34E}" destId="{4F61A079-FA62-4E99-9164-BA3A0D1003B8}" srcOrd="0" destOrd="0" presId="urn:microsoft.com/office/officeart/2005/8/layout/vProcess5"/>
    <dgm:cxn modelId="{825BBE84-7852-49F5-AAF8-3C8FA602A18B}" type="presOf" srcId="{0E21D3B4-B124-47FB-9248-349CEF3241A3}" destId="{AABBB8A6-A0A6-4814-9F96-3B9573403C00}" srcOrd="1" destOrd="0" presId="urn:microsoft.com/office/officeart/2005/8/layout/vProcess5"/>
    <dgm:cxn modelId="{798AC3B1-1E2F-46C9-8D6F-AE6458271C9A}" srcId="{5A28EC99-51FA-450D-B59E-50DFBF7C597C}" destId="{05FB6730-6463-4C0E-A06F-C7EA663EEFDE}" srcOrd="1" destOrd="0" parTransId="{068DC250-7B08-4296-B560-BEA8C09C8837}" sibTransId="{1A2843AA-C8EF-476C-A0D6-91F2A8E2ADAA}"/>
    <dgm:cxn modelId="{8C643CBE-E36C-4677-99A8-DDCE883D395B}" type="presOf" srcId="{05FB6730-6463-4C0E-A06F-C7EA663EEFDE}" destId="{9865977B-86F4-43D1-9F27-E60BCC92EAE3}" srcOrd="1" destOrd="0" presId="urn:microsoft.com/office/officeart/2005/8/layout/vProcess5"/>
    <dgm:cxn modelId="{FCA5ADC0-5002-4586-95F3-57C4C99CEDAA}" type="presOf" srcId="{05FB6730-6463-4C0E-A06F-C7EA663EEFDE}" destId="{849AB628-1649-4C79-B527-A7E699727D97}" srcOrd="0" destOrd="0" presId="urn:microsoft.com/office/officeart/2005/8/layout/vProcess5"/>
    <dgm:cxn modelId="{ED4748C6-597C-4A2E-9987-33A945374496}" type="presOf" srcId="{F61420B3-D74E-4726-82D9-E28BF400F64E}" destId="{2BE7026A-060B-4114-B64F-0038D2327BF8}" srcOrd="0" destOrd="0" presId="urn:microsoft.com/office/officeart/2005/8/layout/vProcess5"/>
    <dgm:cxn modelId="{AA7E64C7-3CF9-4A1B-8E61-69477394EDA8}" type="presOf" srcId="{E998C0A1-994F-4C6B-88C6-7AD1D5EA124A}" destId="{EDC041F0-71AF-4B8D-AC57-8EF036244671}" srcOrd="0" destOrd="0" presId="urn:microsoft.com/office/officeart/2005/8/layout/vProcess5"/>
    <dgm:cxn modelId="{89567FCA-B706-4DC0-BD22-CC48BCD34D68}" srcId="{5A28EC99-51FA-450D-B59E-50DFBF7C597C}" destId="{B522EFF8-08AD-452D-91AF-1FB8A65E846A}" srcOrd="4" destOrd="0" parTransId="{0BB1959C-125E-419D-9C79-D586696E66F1}" sibTransId="{ABCD5CBC-9858-42DF-B2C2-4C5530B74513}"/>
    <dgm:cxn modelId="{9E1BA3D0-23BD-4A27-BAC8-3759583EE739}" type="presOf" srcId="{B522EFF8-08AD-452D-91AF-1FB8A65E846A}" destId="{DF7EEF9B-F2FD-46EE-BAE4-0869AA7965CA}" srcOrd="1" destOrd="0" presId="urn:microsoft.com/office/officeart/2005/8/layout/vProcess5"/>
    <dgm:cxn modelId="{ACC128D4-1DB3-4E83-BA85-62CD6E304B33}" srcId="{5A28EC99-51FA-450D-B59E-50DFBF7C597C}" destId="{C11A2E9C-645E-4293-B8CF-B9242746B4A3}" srcOrd="0" destOrd="0" parTransId="{B259ECF2-0E57-4552-B0FB-B50A8EFF2090}" sibTransId="{E998C0A1-994F-4C6B-88C6-7AD1D5EA124A}"/>
    <dgm:cxn modelId="{1DB5ADE2-DF21-4A3D-8A74-4A97BAC7C876}" srcId="{5A28EC99-51FA-450D-B59E-50DFBF7C597C}" destId="{0E21D3B4-B124-47FB-9248-349CEF3241A3}" srcOrd="2" destOrd="0" parTransId="{160EFBCD-00A7-4FFA-929B-28E2B348165F}" sibTransId="{D7D0A8BD-0A7D-449C-8948-8BF2C86BA34E}"/>
    <dgm:cxn modelId="{222967EB-7DF2-4D2E-9B0D-DE755F34D6FB}" type="presOf" srcId="{C11A2E9C-645E-4293-B8CF-B9242746B4A3}" destId="{D2EABCE3-6392-4421-957F-FD744AD24EE0}" srcOrd="1" destOrd="0" presId="urn:microsoft.com/office/officeart/2005/8/layout/vProcess5"/>
    <dgm:cxn modelId="{E2638AEF-5F4E-4460-BAD7-276973530035}" type="presOf" srcId="{B522EFF8-08AD-452D-91AF-1FB8A65E846A}" destId="{2837A5F0-403A-4C5D-840C-1155E3AB18E8}" srcOrd="0" destOrd="0" presId="urn:microsoft.com/office/officeart/2005/8/layout/vProcess5"/>
    <dgm:cxn modelId="{1F2E9AF2-A6CC-4029-804D-CFAA460AD705}" type="presOf" srcId="{94ECA3E2-A0D0-467D-A327-FD8C9D1F6D28}" destId="{1C062929-2D9B-421A-BEE7-5B2DAD88DA41}" srcOrd="0" destOrd="0" presId="urn:microsoft.com/office/officeart/2005/8/layout/vProcess5"/>
    <dgm:cxn modelId="{624644FD-4AF9-45DF-9794-B537FE9E53CC}" type="presOf" srcId="{C11A2E9C-645E-4293-B8CF-B9242746B4A3}" destId="{6B5FAE80-6C3A-4572-BCB4-61DEE5B6D935}" srcOrd="0" destOrd="0" presId="urn:microsoft.com/office/officeart/2005/8/layout/vProcess5"/>
    <dgm:cxn modelId="{AE405DA4-92BC-4459-BAC4-83351929D055}" type="presParOf" srcId="{8D40410E-7D05-4719-9514-F9A03D158ABF}" destId="{C548DD68-21D5-436F-8C31-C990BE264B04}" srcOrd="0" destOrd="0" presId="urn:microsoft.com/office/officeart/2005/8/layout/vProcess5"/>
    <dgm:cxn modelId="{E9093DB3-0F43-4201-B0FD-A68B5986531F}" type="presParOf" srcId="{8D40410E-7D05-4719-9514-F9A03D158ABF}" destId="{6B5FAE80-6C3A-4572-BCB4-61DEE5B6D935}" srcOrd="1" destOrd="0" presId="urn:microsoft.com/office/officeart/2005/8/layout/vProcess5"/>
    <dgm:cxn modelId="{28A3DE7E-89A9-4E26-B161-1A4889931428}" type="presParOf" srcId="{8D40410E-7D05-4719-9514-F9A03D158ABF}" destId="{849AB628-1649-4C79-B527-A7E699727D97}" srcOrd="2" destOrd="0" presId="urn:microsoft.com/office/officeart/2005/8/layout/vProcess5"/>
    <dgm:cxn modelId="{8AC65202-A0B0-4733-8DA9-207865AF6B19}" type="presParOf" srcId="{8D40410E-7D05-4719-9514-F9A03D158ABF}" destId="{246C1A4B-72BB-4D86-B02E-229C1781A876}" srcOrd="3" destOrd="0" presId="urn:microsoft.com/office/officeart/2005/8/layout/vProcess5"/>
    <dgm:cxn modelId="{2CCE3670-A010-4BE2-8B28-021622B18059}" type="presParOf" srcId="{8D40410E-7D05-4719-9514-F9A03D158ABF}" destId="{1C062929-2D9B-421A-BEE7-5B2DAD88DA41}" srcOrd="4" destOrd="0" presId="urn:microsoft.com/office/officeart/2005/8/layout/vProcess5"/>
    <dgm:cxn modelId="{B32DD754-D650-4A9F-B3B6-3C01097AB49E}" type="presParOf" srcId="{8D40410E-7D05-4719-9514-F9A03D158ABF}" destId="{2837A5F0-403A-4C5D-840C-1155E3AB18E8}" srcOrd="5" destOrd="0" presId="urn:microsoft.com/office/officeart/2005/8/layout/vProcess5"/>
    <dgm:cxn modelId="{BA64516C-4E39-426C-9F98-7583D99E4BD2}" type="presParOf" srcId="{8D40410E-7D05-4719-9514-F9A03D158ABF}" destId="{EDC041F0-71AF-4B8D-AC57-8EF036244671}" srcOrd="6" destOrd="0" presId="urn:microsoft.com/office/officeart/2005/8/layout/vProcess5"/>
    <dgm:cxn modelId="{01700A6B-BC55-4737-B7CC-424157615F0A}" type="presParOf" srcId="{8D40410E-7D05-4719-9514-F9A03D158ABF}" destId="{6B991FC6-B192-40C7-B4A4-41DEA572D535}" srcOrd="7" destOrd="0" presId="urn:microsoft.com/office/officeart/2005/8/layout/vProcess5"/>
    <dgm:cxn modelId="{AF0F5A1D-7679-4FCE-9C8B-490F52631654}" type="presParOf" srcId="{8D40410E-7D05-4719-9514-F9A03D158ABF}" destId="{4F61A079-FA62-4E99-9164-BA3A0D1003B8}" srcOrd="8" destOrd="0" presId="urn:microsoft.com/office/officeart/2005/8/layout/vProcess5"/>
    <dgm:cxn modelId="{1825F622-AB68-49C8-B8B3-1A87AFAA50B3}" type="presParOf" srcId="{8D40410E-7D05-4719-9514-F9A03D158ABF}" destId="{2BE7026A-060B-4114-B64F-0038D2327BF8}" srcOrd="9" destOrd="0" presId="urn:microsoft.com/office/officeart/2005/8/layout/vProcess5"/>
    <dgm:cxn modelId="{AC5B8D09-7083-435F-BB30-A655A19373AB}" type="presParOf" srcId="{8D40410E-7D05-4719-9514-F9A03D158ABF}" destId="{D2EABCE3-6392-4421-957F-FD744AD24EE0}" srcOrd="10" destOrd="0" presId="urn:microsoft.com/office/officeart/2005/8/layout/vProcess5"/>
    <dgm:cxn modelId="{1AF56B4B-3416-4A8C-8346-94A5B1E14ADB}" type="presParOf" srcId="{8D40410E-7D05-4719-9514-F9A03D158ABF}" destId="{9865977B-86F4-43D1-9F27-E60BCC92EAE3}" srcOrd="11" destOrd="0" presId="urn:microsoft.com/office/officeart/2005/8/layout/vProcess5"/>
    <dgm:cxn modelId="{A0FA3269-A18F-45E6-94E2-29CA81A3E5EE}" type="presParOf" srcId="{8D40410E-7D05-4719-9514-F9A03D158ABF}" destId="{AABBB8A6-A0A6-4814-9F96-3B9573403C00}" srcOrd="12" destOrd="0" presId="urn:microsoft.com/office/officeart/2005/8/layout/vProcess5"/>
    <dgm:cxn modelId="{FE03516F-F961-4C05-8B30-9458413C0901}" type="presParOf" srcId="{8D40410E-7D05-4719-9514-F9A03D158ABF}" destId="{4BD0FA78-6572-4E1F-AA19-32665558F2BC}" srcOrd="13" destOrd="0" presId="urn:microsoft.com/office/officeart/2005/8/layout/vProcess5"/>
    <dgm:cxn modelId="{7B9811A6-F115-4964-8A42-B81061638A82}" type="presParOf" srcId="{8D40410E-7D05-4719-9514-F9A03D158ABF}" destId="{DF7EEF9B-F2FD-46EE-BAE4-0869AA7965CA}"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2CE098-99C1-4329-A6DB-5143837DB0CD}"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4DCE87EB-F62C-4C78-B6EF-551E5BDD4A07}">
      <dgm:prSet phldr="0"/>
      <dgm:spPr/>
      <dgm:t>
        <a:bodyPr/>
        <a:lstStyle/>
        <a:p>
          <a:pPr rtl="0"/>
          <a:r>
            <a:rPr lang="tr-TR">
              <a:latin typeface="Calibri"/>
              <a:cs typeface="Calibri"/>
            </a:rPr>
            <a:t>Bağdat, Karabağ, Revan, ve Nahçıvan Osmanlılarda kalacaktı.</a:t>
          </a:r>
          <a:endParaRPr lang="tr-TR"/>
        </a:p>
      </dgm:t>
    </dgm:pt>
    <dgm:pt modelId="{5D037115-A816-4C26-AE29-73BE22D5709F}" type="parTrans" cxnId="{88CA6416-F059-4B11-AD9C-4E2006AD0D9F}">
      <dgm:prSet/>
      <dgm:spPr/>
      <dgm:t>
        <a:bodyPr/>
        <a:lstStyle/>
        <a:p>
          <a:endParaRPr lang="en-US"/>
        </a:p>
      </dgm:t>
    </dgm:pt>
    <dgm:pt modelId="{6EA9A4D6-5599-4F70-8B36-A70AA7740BF6}" type="sibTrans" cxnId="{88CA6416-F059-4B11-AD9C-4E2006AD0D9F}">
      <dgm:prSet phldrT="01"/>
      <dgm:spPr/>
      <dgm:t>
        <a:bodyPr/>
        <a:lstStyle/>
        <a:p>
          <a:r>
            <a:rPr lang="en-US"/>
            <a:t>01</a:t>
          </a:r>
        </a:p>
      </dgm:t>
    </dgm:pt>
    <dgm:pt modelId="{4058582A-2385-43CF-AD0C-75B3A5E5A749}">
      <dgm:prSet/>
      <dgm:spPr/>
      <dgm:t>
        <a:bodyPr/>
        <a:lstStyle/>
        <a:p>
          <a:r>
            <a:rPr lang="tr-TR" dirty="0"/>
            <a:t> Antlaşma 25 yıl sürecekti.</a:t>
          </a:r>
          <a:endParaRPr lang="en-US" dirty="0"/>
        </a:p>
      </dgm:t>
    </dgm:pt>
    <dgm:pt modelId="{014DF3D4-AFE5-429A-A2FE-D2F89CD757B6}" type="parTrans" cxnId="{05BE25F9-A4B8-422F-8967-8E7AB29000EA}">
      <dgm:prSet/>
      <dgm:spPr/>
      <dgm:t>
        <a:bodyPr/>
        <a:lstStyle/>
        <a:p>
          <a:endParaRPr lang="en-US"/>
        </a:p>
      </dgm:t>
    </dgm:pt>
    <dgm:pt modelId="{D882EADA-598E-48DE-8397-7944FBFE6A7B}" type="sibTrans" cxnId="{05BE25F9-A4B8-422F-8967-8E7AB29000EA}">
      <dgm:prSet phldrT="02"/>
      <dgm:spPr/>
      <dgm:t>
        <a:bodyPr/>
        <a:lstStyle/>
        <a:p>
          <a:r>
            <a:rPr lang="en-US"/>
            <a:t>02</a:t>
          </a:r>
        </a:p>
      </dgm:t>
    </dgm:pt>
    <dgm:pt modelId="{37A9C769-653E-4B00-B912-2BE66017BEA3}">
      <dgm:prSet/>
      <dgm:spPr/>
      <dgm:t>
        <a:bodyPr/>
        <a:lstStyle/>
        <a:p>
          <a:r>
            <a:rPr lang="tr-TR" dirty="0"/>
            <a:t>Amasya Antlaşması, Osmanlı Devleti ile İran arasındaki ilk antlaşmadır.</a:t>
          </a:r>
          <a:endParaRPr lang="en-US" dirty="0"/>
        </a:p>
      </dgm:t>
    </dgm:pt>
    <dgm:pt modelId="{FEDA79E9-1549-4BB7-A0E9-08CBD0DDB253}" type="parTrans" cxnId="{80E5EB7F-867C-4B61-8AE0-8FB91B8FF058}">
      <dgm:prSet/>
      <dgm:spPr/>
      <dgm:t>
        <a:bodyPr/>
        <a:lstStyle/>
        <a:p>
          <a:endParaRPr lang="en-US"/>
        </a:p>
      </dgm:t>
    </dgm:pt>
    <dgm:pt modelId="{9CC95C83-58EC-480C-955F-0DF329334505}" type="sibTrans" cxnId="{80E5EB7F-867C-4B61-8AE0-8FB91B8FF058}">
      <dgm:prSet phldrT="03"/>
      <dgm:spPr/>
      <dgm:t>
        <a:bodyPr/>
        <a:lstStyle/>
        <a:p>
          <a:r>
            <a:rPr lang="en-US"/>
            <a:t>03</a:t>
          </a:r>
        </a:p>
      </dgm:t>
    </dgm:pt>
    <dgm:pt modelId="{61708324-F9FF-4CF4-B7F5-B8ED032FB3DC}" type="pres">
      <dgm:prSet presAssocID="{872CE098-99C1-4329-A6DB-5143837DB0CD}" presName="Name0" presStyleCnt="0">
        <dgm:presLayoutVars>
          <dgm:animLvl val="lvl"/>
          <dgm:resizeHandles val="exact"/>
        </dgm:presLayoutVars>
      </dgm:prSet>
      <dgm:spPr/>
    </dgm:pt>
    <dgm:pt modelId="{19E09BAC-D4AB-430B-A670-B11A6C47CD15}" type="pres">
      <dgm:prSet presAssocID="{4DCE87EB-F62C-4C78-B6EF-551E5BDD4A07}" presName="compositeNode" presStyleCnt="0">
        <dgm:presLayoutVars>
          <dgm:bulletEnabled val="1"/>
        </dgm:presLayoutVars>
      </dgm:prSet>
      <dgm:spPr/>
    </dgm:pt>
    <dgm:pt modelId="{767A057A-ACD6-414D-BB8A-8B05B1C74799}" type="pres">
      <dgm:prSet presAssocID="{4DCE87EB-F62C-4C78-B6EF-551E5BDD4A07}" presName="bgRect" presStyleLbl="alignNode1" presStyleIdx="0" presStyleCnt="3"/>
      <dgm:spPr/>
    </dgm:pt>
    <dgm:pt modelId="{6D9DA630-43DB-4DF1-A86B-F79020776CB2}" type="pres">
      <dgm:prSet presAssocID="{6EA9A4D6-5599-4F70-8B36-A70AA7740BF6}" presName="sibTransNodeRect" presStyleLbl="alignNode1" presStyleIdx="0" presStyleCnt="3">
        <dgm:presLayoutVars>
          <dgm:chMax val="0"/>
          <dgm:bulletEnabled val="1"/>
        </dgm:presLayoutVars>
      </dgm:prSet>
      <dgm:spPr/>
    </dgm:pt>
    <dgm:pt modelId="{5A0CED67-FE2A-4C08-8130-1D5BE826950D}" type="pres">
      <dgm:prSet presAssocID="{4DCE87EB-F62C-4C78-B6EF-551E5BDD4A07}" presName="nodeRect" presStyleLbl="alignNode1" presStyleIdx="0" presStyleCnt="3">
        <dgm:presLayoutVars>
          <dgm:bulletEnabled val="1"/>
        </dgm:presLayoutVars>
      </dgm:prSet>
      <dgm:spPr/>
    </dgm:pt>
    <dgm:pt modelId="{16DF710A-4550-4E0B-929B-604DD6C7FA73}" type="pres">
      <dgm:prSet presAssocID="{6EA9A4D6-5599-4F70-8B36-A70AA7740BF6}" presName="sibTrans" presStyleCnt="0"/>
      <dgm:spPr/>
    </dgm:pt>
    <dgm:pt modelId="{2ADA50C4-479B-4AE6-A4D8-2C30F68BA624}" type="pres">
      <dgm:prSet presAssocID="{4058582A-2385-43CF-AD0C-75B3A5E5A749}" presName="compositeNode" presStyleCnt="0">
        <dgm:presLayoutVars>
          <dgm:bulletEnabled val="1"/>
        </dgm:presLayoutVars>
      </dgm:prSet>
      <dgm:spPr/>
    </dgm:pt>
    <dgm:pt modelId="{7A20C400-8B21-4AFB-B1B1-2FA88C5279BD}" type="pres">
      <dgm:prSet presAssocID="{4058582A-2385-43CF-AD0C-75B3A5E5A749}" presName="bgRect" presStyleLbl="alignNode1" presStyleIdx="1" presStyleCnt="3"/>
      <dgm:spPr/>
    </dgm:pt>
    <dgm:pt modelId="{8FAC535C-34D1-4A98-A3D9-FC485242DDDE}" type="pres">
      <dgm:prSet presAssocID="{D882EADA-598E-48DE-8397-7944FBFE6A7B}" presName="sibTransNodeRect" presStyleLbl="alignNode1" presStyleIdx="1" presStyleCnt="3">
        <dgm:presLayoutVars>
          <dgm:chMax val="0"/>
          <dgm:bulletEnabled val="1"/>
        </dgm:presLayoutVars>
      </dgm:prSet>
      <dgm:spPr/>
    </dgm:pt>
    <dgm:pt modelId="{E4FC70C0-875D-45D0-8668-1FD5A701B68E}" type="pres">
      <dgm:prSet presAssocID="{4058582A-2385-43CF-AD0C-75B3A5E5A749}" presName="nodeRect" presStyleLbl="alignNode1" presStyleIdx="1" presStyleCnt="3">
        <dgm:presLayoutVars>
          <dgm:bulletEnabled val="1"/>
        </dgm:presLayoutVars>
      </dgm:prSet>
      <dgm:spPr/>
    </dgm:pt>
    <dgm:pt modelId="{EF980B31-0FC2-4CE5-859B-A9AB56A68029}" type="pres">
      <dgm:prSet presAssocID="{D882EADA-598E-48DE-8397-7944FBFE6A7B}" presName="sibTrans" presStyleCnt="0"/>
      <dgm:spPr/>
    </dgm:pt>
    <dgm:pt modelId="{B38A3019-FB0A-44EF-8DAB-14A30EAC2963}" type="pres">
      <dgm:prSet presAssocID="{37A9C769-653E-4B00-B912-2BE66017BEA3}" presName="compositeNode" presStyleCnt="0">
        <dgm:presLayoutVars>
          <dgm:bulletEnabled val="1"/>
        </dgm:presLayoutVars>
      </dgm:prSet>
      <dgm:spPr/>
    </dgm:pt>
    <dgm:pt modelId="{C7CB4637-9413-42C8-ADDD-7D2C07BE57E9}" type="pres">
      <dgm:prSet presAssocID="{37A9C769-653E-4B00-B912-2BE66017BEA3}" presName="bgRect" presStyleLbl="alignNode1" presStyleIdx="2" presStyleCnt="3"/>
      <dgm:spPr/>
    </dgm:pt>
    <dgm:pt modelId="{551DFBBB-DC17-49EF-80E9-BFE704C8AED7}" type="pres">
      <dgm:prSet presAssocID="{9CC95C83-58EC-480C-955F-0DF329334505}" presName="sibTransNodeRect" presStyleLbl="alignNode1" presStyleIdx="2" presStyleCnt="3">
        <dgm:presLayoutVars>
          <dgm:chMax val="0"/>
          <dgm:bulletEnabled val="1"/>
        </dgm:presLayoutVars>
      </dgm:prSet>
      <dgm:spPr/>
    </dgm:pt>
    <dgm:pt modelId="{F753409E-043A-4375-A603-3204435B7185}" type="pres">
      <dgm:prSet presAssocID="{37A9C769-653E-4B00-B912-2BE66017BEA3}" presName="nodeRect" presStyleLbl="alignNode1" presStyleIdx="2" presStyleCnt="3">
        <dgm:presLayoutVars>
          <dgm:bulletEnabled val="1"/>
        </dgm:presLayoutVars>
      </dgm:prSet>
      <dgm:spPr/>
    </dgm:pt>
  </dgm:ptLst>
  <dgm:cxnLst>
    <dgm:cxn modelId="{A5FDB804-2369-45DA-8931-BF283E8980A1}" type="presOf" srcId="{4058582A-2385-43CF-AD0C-75B3A5E5A749}" destId="{7A20C400-8B21-4AFB-B1B1-2FA88C5279BD}" srcOrd="0" destOrd="0" presId="urn:microsoft.com/office/officeart/2016/7/layout/LinearBlockProcessNumbered"/>
    <dgm:cxn modelId="{88CA6416-F059-4B11-AD9C-4E2006AD0D9F}" srcId="{872CE098-99C1-4329-A6DB-5143837DB0CD}" destId="{4DCE87EB-F62C-4C78-B6EF-551E5BDD4A07}" srcOrd="0" destOrd="0" parTransId="{5D037115-A816-4C26-AE29-73BE22D5709F}" sibTransId="{6EA9A4D6-5599-4F70-8B36-A70AA7740BF6}"/>
    <dgm:cxn modelId="{BB6A8C3D-9690-469C-AC59-8A035A5359AF}" type="presOf" srcId="{D882EADA-598E-48DE-8397-7944FBFE6A7B}" destId="{8FAC535C-34D1-4A98-A3D9-FC485242DDDE}" srcOrd="0" destOrd="0" presId="urn:microsoft.com/office/officeart/2016/7/layout/LinearBlockProcessNumbered"/>
    <dgm:cxn modelId="{4037407B-0CAF-4310-9F17-F0E4CC0DB5C3}" type="presOf" srcId="{37A9C769-653E-4B00-B912-2BE66017BEA3}" destId="{F753409E-043A-4375-A603-3204435B7185}" srcOrd="1" destOrd="0" presId="urn:microsoft.com/office/officeart/2016/7/layout/LinearBlockProcessNumbered"/>
    <dgm:cxn modelId="{80E5EB7F-867C-4B61-8AE0-8FB91B8FF058}" srcId="{872CE098-99C1-4329-A6DB-5143837DB0CD}" destId="{37A9C769-653E-4B00-B912-2BE66017BEA3}" srcOrd="2" destOrd="0" parTransId="{FEDA79E9-1549-4BB7-A0E9-08CBD0DDB253}" sibTransId="{9CC95C83-58EC-480C-955F-0DF329334505}"/>
    <dgm:cxn modelId="{9BDC849B-7A50-4A46-9DA5-36E7F71D4D59}" type="presOf" srcId="{4058582A-2385-43CF-AD0C-75B3A5E5A749}" destId="{E4FC70C0-875D-45D0-8668-1FD5A701B68E}" srcOrd="1" destOrd="0" presId="urn:microsoft.com/office/officeart/2016/7/layout/LinearBlockProcessNumbered"/>
    <dgm:cxn modelId="{9DB3869C-380C-47AB-9489-6E96FE0D3BF3}" type="presOf" srcId="{4DCE87EB-F62C-4C78-B6EF-551E5BDD4A07}" destId="{5A0CED67-FE2A-4C08-8130-1D5BE826950D}" srcOrd="1" destOrd="0" presId="urn:microsoft.com/office/officeart/2016/7/layout/LinearBlockProcessNumbered"/>
    <dgm:cxn modelId="{C43023AD-4514-46EB-AAD1-36574A9DC69E}" type="presOf" srcId="{6EA9A4D6-5599-4F70-8B36-A70AA7740BF6}" destId="{6D9DA630-43DB-4DF1-A86B-F79020776CB2}" srcOrd="0" destOrd="0" presId="urn:microsoft.com/office/officeart/2016/7/layout/LinearBlockProcessNumbered"/>
    <dgm:cxn modelId="{AAEEC9B1-BD1B-4E04-B9C8-2F9674341A97}" type="presOf" srcId="{4DCE87EB-F62C-4C78-B6EF-551E5BDD4A07}" destId="{767A057A-ACD6-414D-BB8A-8B05B1C74799}" srcOrd="0" destOrd="0" presId="urn:microsoft.com/office/officeart/2016/7/layout/LinearBlockProcessNumbered"/>
    <dgm:cxn modelId="{F7F93FC8-7A78-4460-BADF-396EEB078E08}" type="presOf" srcId="{37A9C769-653E-4B00-B912-2BE66017BEA3}" destId="{C7CB4637-9413-42C8-ADDD-7D2C07BE57E9}" srcOrd="0" destOrd="0" presId="urn:microsoft.com/office/officeart/2016/7/layout/LinearBlockProcessNumbered"/>
    <dgm:cxn modelId="{D6F088CA-0AAD-4475-892A-98CC56621E02}" type="presOf" srcId="{872CE098-99C1-4329-A6DB-5143837DB0CD}" destId="{61708324-F9FF-4CF4-B7F5-B8ED032FB3DC}" srcOrd="0" destOrd="0" presId="urn:microsoft.com/office/officeart/2016/7/layout/LinearBlockProcessNumbered"/>
    <dgm:cxn modelId="{BA0A9CDA-43AB-4E7E-9320-585CBADDB722}" type="presOf" srcId="{9CC95C83-58EC-480C-955F-0DF329334505}" destId="{551DFBBB-DC17-49EF-80E9-BFE704C8AED7}" srcOrd="0" destOrd="0" presId="urn:microsoft.com/office/officeart/2016/7/layout/LinearBlockProcessNumbered"/>
    <dgm:cxn modelId="{05BE25F9-A4B8-422F-8967-8E7AB29000EA}" srcId="{872CE098-99C1-4329-A6DB-5143837DB0CD}" destId="{4058582A-2385-43CF-AD0C-75B3A5E5A749}" srcOrd="1" destOrd="0" parTransId="{014DF3D4-AFE5-429A-A2FE-D2F89CD757B6}" sibTransId="{D882EADA-598E-48DE-8397-7944FBFE6A7B}"/>
    <dgm:cxn modelId="{9E7227E7-8FE1-4A0C-9493-CFF5845C3B06}" type="presParOf" srcId="{61708324-F9FF-4CF4-B7F5-B8ED032FB3DC}" destId="{19E09BAC-D4AB-430B-A670-B11A6C47CD15}" srcOrd="0" destOrd="0" presId="urn:microsoft.com/office/officeart/2016/7/layout/LinearBlockProcessNumbered"/>
    <dgm:cxn modelId="{1B9A9589-C929-4A75-A49C-52E67C3B1C23}" type="presParOf" srcId="{19E09BAC-D4AB-430B-A670-B11A6C47CD15}" destId="{767A057A-ACD6-414D-BB8A-8B05B1C74799}" srcOrd="0" destOrd="0" presId="urn:microsoft.com/office/officeart/2016/7/layout/LinearBlockProcessNumbered"/>
    <dgm:cxn modelId="{D04DE73C-E5B5-4162-927F-55FE2C8F875E}" type="presParOf" srcId="{19E09BAC-D4AB-430B-A670-B11A6C47CD15}" destId="{6D9DA630-43DB-4DF1-A86B-F79020776CB2}" srcOrd="1" destOrd="0" presId="urn:microsoft.com/office/officeart/2016/7/layout/LinearBlockProcessNumbered"/>
    <dgm:cxn modelId="{B0DFF964-D221-420B-8A6A-44C120CB0AEF}" type="presParOf" srcId="{19E09BAC-D4AB-430B-A670-B11A6C47CD15}" destId="{5A0CED67-FE2A-4C08-8130-1D5BE826950D}" srcOrd="2" destOrd="0" presId="urn:microsoft.com/office/officeart/2016/7/layout/LinearBlockProcessNumbered"/>
    <dgm:cxn modelId="{0A4F3BA1-0D12-4430-93A3-BF1BF1A13B61}" type="presParOf" srcId="{61708324-F9FF-4CF4-B7F5-B8ED032FB3DC}" destId="{16DF710A-4550-4E0B-929B-604DD6C7FA73}" srcOrd="1" destOrd="0" presId="urn:microsoft.com/office/officeart/2016/7/layout/LinearBlockProcessNumbered"/>
    <dgm:cxn modelId="{8CD1DB2A-B265-440C-9E84-7316DA90B040}" type="presParOf" srcId="{61708324-F9FF-4CF4-B7F5-B8ED032FB3DC}" destId="{2ADA50C4-479B-4AE6-A4D8-2C30F68BA624}" srcOrd="2" destOrd="0" presId="urn:microsoft.com/office/officeart/2016/7/layout/LinearBlockProcessNumbered"/>
    <dgm:cxn modelId="{2238D470-54D6-435E-B9C5-E386437CEB29}" type="presParOf" srcId="{2ADA50C4-479B-4AE6-A4D8-2C30F68BA624}" destId="{7A20C400-8B21-4AFB-B1B1-2FA88C5279BD}" srcOrd="0" destOrd="0" presId="urn:microsoft.com/office/officeart/2016/7/layout/LinearBlockProcessNumbered"/>
    <dgm:cxn modelId="{F6FEB5A3-4881-4101-8BD7-B6EEF8B6FE76}" type="presParOf" srcId="{2ADA50C4-479B-4AE6-A4D8-2C30F68BA624}" destId="{8FAC535C-34D1-4A98-A3D9-FC485242DDDE}" srcOrd="1" destOrd="0" presId="urn:microsoft.com/office/officeart/2016/7/layout/LinearBlockProcessNumbered"/>
    <dgm:cxn modelId="{0EEF9113-7856-416D-A224-5C360AF6AF77}" type="presParOf" srcId="{2ADA50C4-479B-4AE6-A4D8-2C30F68BA624}" destId="{E4FC70C0-875D-45D0-8668-1FD5A701B68E}" srcOrd="2" destOrd="0" presId="urn:microsoft.com/office/officeart/2016/7/layout/LinearBlockProcessNumbered"/>
    <dgm:cxn modelId="{D453A3CB-3214-4BA1-A3FB-3E35DE7225C9}" type="presParOf" srcId="{61708324-F9FF-4CF4-B7F5-B8ED032FB3DC}" destId="{EF980B31-0FC2-4CE5-859B-A9AB56A68029}" srcOrd="3" destOrd="0" presId="urn:microsoft.com/office/officeart/2016/7/layout/LinearBlockProcessNumbered"/>
    <dgm:cxn modelId="{ADB21D2D-F402-4B63-85A1-F505C4C58284}" type="presParOf" srcId="{61708324-F9FF-4CF4-B7F5-B8ED032FB3DC}" destId="{B38A3019-FB0A-44EF-8DAB-14A30EAC2963}" srcOrd="4" destOrd="0" presId="urn:microsoft.com/office/officeart/2016/7/layout/LinearBlockProcessNumbered"/>
    <dgm:cxn modelId="{B8FC02BB-044B-4344-A767-88E26DC4F00D}" type="presParOf" srcId="{B38A3019-FB0A-44EF-8DAB-14A30EAC2963}" destId="{C7CB4637-9413-42C8-ADDD-7D2C07BE57E9}" srcOrd="0" destOrd="0" presId="urn:microsoft.com/office/officeart/2016/7/layout/LinearBlockProcessNumbered"/>
    <dgm:cxn modelId="{20739A19-2CD6-4C42-8B06-4116938FEC0C}" type="presParOf" srcId="{B38A3019-FB0A-44EF-8DAB-14A30EAC2963}" destId="{551DFBBB-DC17-49EF-80E9-BFE704C8AED7}" srcOrd="1" destOrd="0" presId="urn:microsoft.com/office/officeart/2016/7/layout/LinearBlockProcessNumbered"/>
    <dgm:cxn modelId="{DBAE83A8-D80F-4258-ACEA-5CD2A625DC8D}" type="presParOf" srcId="{B38A3019-FB0A-44EF-8DAB-14A30EAC2963}" destId="{F753409E-043A-4375-A603-3204435B7185}"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5FAE80-6C3A-4572-BCB4-61DEE5B6D935}">
      <dsp:nvSpPr>
        <dsp:cNvPr id="0" name=""/>
        <dsp:cNvSpPr/>
      </dsp:nvSpPr>
      <dsp:spPr>
        <a:xfrm>
          <a:off x="0" y="0"/>
          <a:ext cx="7829458" cy="6649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tr-TR" sz="2200" kern="1200" dirty="0">
              <a:latin typeface="Avenir Next LT Pro"/>
            </a:rPr>
            <a:t> </a:t>
          </a:r>
          <a:r>
            <a:rPr lang="tr-TR" sz="2200" kern="1200" dirty="0"/>
            <a:t>Macaristan'ın başkenti </a:t>
          </a:r>
          <a:r>
            <a:rPr lang="tr-TR" sz="2200" kern="1200" dirty="0" err="1"/>
            <a:t>Budin</a:t>
          </a:r>
          <a:r>
            <a:rPr lang="tr-TR" sz="2200" kern="1200" dirty="0"/>
            <a:t> fethedildi.</a:t>
          </a:r>
          <a:endParaRPr lang="en-US" sz="2200" kern="1200" dirty="0"/>
        </a:p>
      </dsp:txBody>
      <dsp:txXfrm>
        <a:off x="19476" y="19476"/>
        <a:ext cx="7034124" cy="625999"/>
      </dsp:txXfrm>
    </dsp:sp>
    <dsp:sp modelId="{849AB628-1649-4C79-B527-A7E699727D97}">
      <dsp:nvSpPr>
        <dsp:cNvPr id="0" name=""/>
        <dsp:cNvSpPr/>
      </dsp:nvSpPr>
      <dsp:spPr>
        <a:xfrm>
          <a:off x="584667" y="757306"/>
          <a:ext cx="7829458" cy="6649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kern="1200" dirty="0">
              <a:latin typeface="Avenir Next LT Pro"/>
            </a:rPr>
            <a:t>Macaristan</a:t>
          </a:r>
          <a:r>
            <a:rPr lang="tr-TR" sz="2200" kern="1200" dirty="0"/>
            <a:t>, Osmanlı Devleti'ne bağlandı.</a:t>
          </a:r>
          <a:endParaRPr lang="en-US" sz="2200" kern="1200" dirty="0"/>
        </a:p>
      </dsp:txBody>
      <dsp:txXfrm>
        <a:off x="604143" y="776782"/>
        <a:ext cx="6773620" cy="625999"/>
      </dsp:txXfrm>
    </dsp:sp>
    <dsp:sp modelId="{246C1A4B-72BB-4D86-B02E-229C1781A876}">
      <dsp:nvSpPr>
        <dsp:cNvPr id="0" name=""/>
        <dsp:cNvSpPr/>
      </dsp:nvSpPr>
      <dsp:spPr>
        <a:xfrm>
          <a:off x="1169334" y="1514612"/>
          <a:ext cx="7829458" cy="6649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kern="1200" dirty="0"/>
            <a:t>Macar tahtına Jan </a:t>
          </a:r>
          <a:r>
            <a:rPr lang="tr-TR" sz="2200" kern="1200" dirty="0" err="1"/>
            <a:t>Zapolya</a:t>
          </a:r>
          <a:r>
            <a:rPr lang="tr-TR" sz="2200" kern="1200" dirty="0"/>
            <a:t> (</a:t>
          </a:r>
          <a:r>
            <a:rPr lang="tr-TR" sz="2200" kern="1200" dirty="0" err="1"/>
            <a:t>Yanoş</a:t>
          </a:r>
          <a:r>
            <a:rPr lang="tr-TR" sz="2200" kern="1200" dirty="0"/>
            <a:t>) getirildi.</a:t>
          </a:r>
          <a:endParaRPr lang="en-US" sz="2200" kern="1200" dirty="0"/>
        </a:p>
      </dsp:txBody>
      <dsp:txXfrm>
        <a:off x="1188810" y="1534088"/>
        <a:ext cx="6773620" cy="625999"/>
      </dsp:txXfrm>
    </dsp:sp>
    <dsp:sp modelId="{1C062929-2D9B-421A-BEE7-5B2DAD88DA41}">
      <dsp:nvSpPr>
        <dsp:cNvPr id="0" name=""/>
        <dsp:cNvSpPr/>
      </dsp:nvSpPr>
      <dsp:spPr>
        <a:xfrm>
          <a:off x="1754002" y="2271918"/>
          <a:ext cx="7829458" cy="6649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kern="1200" dirty="0">
              <a:latin typeface="Avenir Next LT Pro"/>
            </a:rPr>
            <a:t>Osmanlıların</a:t>
          </a:r>
          <a:r>
            <a:rPr lang="tr-TR" sz="2200" kern="1200" dirty="0"/>
            <a:t> Orta Avrupa'daki hakimiyeti güçlendi.</a:t>
          </a:r>
          <a:endParaRPr lang="en-US" sz="2200" kern="1200" dirty="0"/>
        </a:p>
      </dsp:txBody>
      <dsp:txXfrm>
        <a:off x="1773478" y="2291394"/>
        <a:ext cx="6773620" cy="625999"/>
      </dsp:txXfrm>
    </dsp:sp>
    <dsp:sp modelId="{2837A5F0-403A-4C5D-840C-1155E3AB18E8}">
      <dsp:nvSpPr>
        <dsp:cNvPr id="0" name=""/>
        <dsp:cNvSpPr/>
      </dsp:nvSpPr>
      <dsp:spPr>
        <a:xfrm>
          <a:off x="2338669" y="3029224"/>
          <a:ext cx="7829458" cy="6649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tr-TR" sz="2200" kern="1200" dirty="0">
              <a:latin typeface="Avenir Next LT Pro"/>
            </a:rPr>
            <a:t>Osmanlı-Avusturya</a:t>
          </a:r>
          <a:r>
            <a:rPr lang="tr-TR" sz="2200" kern="1200" dirty="0"/>
            <a:t> mücadelesi başladı.</a:t>
          </a:r>
          <a:endParaRPr lang="en-US" sz="2200" kern="1200" dirty="0"/>
        </a:p>
      </dsp:txBody>
      <dsp:txXfrm>
        <a:off x="2358145" y="3048700"/>
        <a:ext cx="6773620" cy="625999"/>
      </dsp:txXfrm>
    </dsp:sp>
    <dsp:sp modelId="{EDC041F0-71AF-4B8D-AC57-8EF036244671}">
      <dsp:nvSpPr>
        <dsp:cNvPr id="0" name=""/>
        <dsp:cNvSpPr/>
      </dsp:nvSpPr>
      <dsp:spPr>
        <a:xfrm>
          <a:off x="7397239" y="485784"/>
          <a:ext cx="432218" cy="43221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494488" y="485784"/>
        <a:ext cx="237720" cy="325244"/>
      </dsp:txXfrm>
    </dsp:sp>
    <dsp:sp modelId="{6B991FC6-B192-40C7-B4A4-41DEA572D535}">
      <dsp:nvSpPr>
        <dsp:cNvPr id="0" name=""/>
        <dsp:cNvSpPr/>
      </dsp:nvSpPr>
      <dsp:spPr>
        <a:xfrm>
          <a:off x="7981907" y="1243090"/>
          <a:ext cx="432218" cy="43221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079156" y="1243090"/>
        <a:ext cx="237720" cy="325244"/>
      </dsp:txXfrm>
    </dsp:sp>
    <dsp:sp modelId="{4F61A079-FA62-4E99-9164-BA3A0D1003B8}">
      <dsp:nvSpPr>
        <dsp:cNvPr id="0" name=""/>
        <dsp:cNvSpPr/>
      </dsp:nvSpPr>
      <dsp:spPr>
        <a:xfrm>
          <a:off x="8566574" y="1989313"/>
          <a:ext cx="432218" cy="43221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663823" y="1989313"/>
        <a:ext cx="237720" cy="325244"/>
      </dsp:txXfrm>
    </dsp:sp>
    <dsp:sp modelId="{2BE7026A-060B-4114-B64F-0038D2327BF8}">
      <dsp:nvSpPr>
        <dsp:cNvPr id="0" name=""/>
        <dsp:cNvSpPr/>
      </dsp:nvSpPr>
      <dsp:spPr>
        <a:xfrm>
          <a:off x="9151242" y="2754008"/>
          <a:ext cx="432218" cy="43221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248491" y="2754008"/>
        <a:ext cx="237720" cy="3252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A057A-ACD6-414D-BB8A-8B05B1C74799}">
      <dsp:nvSpPr>
        <dsp:cNvPr id="0" name=""/>
        <dsp:cNvSpPr/>
      </dsp:nvSpPr>
      <dsp:spPr>
        <a:xfrm>
          <a:off x="820" y="273126"/>
          <a:ext cx="3324308" cy="398917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368" tIns="0" rIns="328368" bIns="330200" numCol="1" spcCol="1270" anchor="t" anchorCtr="0">
          <a:noAutofit/>
        </a:bodyPr>
        <a:lstStyle/>
        <a:p>
          <a:pPr marL="0" lvl="0" indent="0" algn="l" defTabSz="1155700" rtl="0">
            <a:lnSpc>
              <a:spcPct val="90000"/>
            </a:lnSpc>
            <a:spcBef>
              <a:spcPct val="0"/>
            </a:spcBef>
            <a:spcAft>
              <a:spcPct val="35000"/>
            </a:spcAft>
            <a:buNone/>
          </a:pPr>
          <a:r>
            <a:rPr lang="tr-TR" sz="2600" kern="1200">
              <a:latin typeface="Calibri"/>
              <a:cs typeface="Calibri"/>
            </a:rPr>
            <a:t>Bağdat, Karabağ, Revan, ve Nahçıvan Osmanlılarda kalacaktı.</a:t>
          </a:r>
          <a:endParaRPr lang="tr-TR" sz="2600" kern="1200"/>
        </a:p>
      </dsp:txBody>
      <dsp:txXfrm>
        <a:off x="820" y="1868794"/>
        <a:ext cx="3324308" cy="2393502"/>
      </dsp:txXfrm>
    </dsp:sp>
    <dsp:sp modelId="{6D9DA630-43DB-4DF1-A86B-F79020776CB2}">
      <dsp:nvSpPr>
        <dsp:cNvPr id="0" name=""/>
        <dsp:cNvSpPr/>
      </dsp:nvSpPr>
      <dsp:spPr>
        <a:xfrm>
          <a:off x="820" y="273126"/>
          <a:ext cx="3324308" cy="159566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368" tIns="165100" rIns="328368"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0" y="273126"/>
        <a:ext cx="3324308" cy="1595668"/>
      </dsp:txXfrm>
    </dsp:sp>
    <dsp:sp modelId="{7A20C400-8B21-4AFB-B1B1-2FA88C5279BD}">
      <dsp:nvSpPr>
        <dsp:cNvPr id="0" name=""/>
        <dsp:cNvSpPr/>
      </dsp:nvSpPr>
      <dsp:spPr>
        <a:xfrm>
          <a:off x="3591073" y="273126"/>
          <a:ext cx="3324308" cy="398917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368" tIns="0" rIns="328368" bIns="330200" numCol="1" spcCol="1270" anchor="t" anchorCtr="0">
          <a:noAutofit/>
        </a:bodyPr>
        <a:lstStyle/>
        <a:p>
          <a:pPr marL="0" lvl="0" indent="0" algn="l" defTabSz="1155700">
            <a:lnSpc>
              <a:spcPct val="90000"/>
            </a:lnSpc>
            <a:spcBef>
              <a:spcPct val="0"/>
            </a:spcBef>
            <a:spcAft>
              <a:spcPct val="35000"/>
            </a:spcAft>
            <a:buNone/>
          </a:pPr>
          <a:r>
            <a:rPr lang="tr-TR" sz="2600" kern="1200" dirty="0"/>
            <a:t> Antlaşma 25 yıl sürecekti.</a:t>
          </a:r>
          <a:endParaRPr lang="en-US" sz="2600" kern="1200" dirty="0"/>
        </a:p>
      </dsp:txBody>
      <dsp:txXfrm>
        <a:off x="3591073" y="1868794"/>
        <a:ext cx="3324308" cy="2393502"/>
      </dsp:txXfrm>
    </dsp:sp>
    <dsp:sp modelId="{8FAC535C-34D1-4A98-A3D9-FC485242DDDE}">
      <dsp:nvSpPr>
        <dsp:cNvPr id="0" name=""/>
        <dsp:cNvSpPr/>
      </dsp:nvSpPr>
      <dsp:spPr>
        <a:xfrm>
          <a:off x="3591073" y="273126"/>
          <a:ext cx="3324308" cy="159566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368" tIns="165100" rIns="328368"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1073" y="273126"/>
        <a:ext cx="3324308" cy="1595668"/>
      </dsp:txXfrm>
    </dsp:sp>
    <dsp:sp modelId="{C7CB4637-9413-42C8-ADDD-7D2C07BE57E9}">
      <dsp:nvSpPr>
        <dsp:cNvPr id="0" name=""/>
        <dsp:cNvSpPr/>
      </dsp:nvSpPr>
      <dsp:spPr>
        <a:xfrm>
          <a:off x="7181326" y="273126"/>
          <a:ext cx="3324308" cy="398917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368" tIns="0" rIns="328368" bIns="330200" numCol="1" spcCol="1270" anchor="t" anchorCtr="0">
          <a:noAutofit/>
        </a:bodyPr>
        <a:lstStyle/>
        <a:p>
          <a:pPr marL="0" lvl="0" indent="0" algn="l" defTabSz="1155700">
            <a:lnSpc>
              <a:spcPct val="90000"/>
            </a:lnSpc>
            <a:spcBef>
              <a:spcPct val="0"/>
            </a:spcBef>
            <a:spcAft>
              <a:spcPct val="35000"/>
            </a:spcAft>
            <a:buNone/>
          </a:pPr>
          <a:r>
            <a:rPr lang="tr-TR" sz="2600" kern="1200" dirty="0"/>
            <a:t>Amasya Antlaşması, Osmanlı Devleti ile İran arasındaki ilk antlaşmadır.</a:t>
          </a:r>
          <a:endParaRPr lang="en-US" sz="2600" kern="1200" dirty="0"/>
        </a:p>
      </dsp:txBody>
      <dsp:txXfrm>
        <a:off x="7181326" y="1868794"/>
        <a:ext cx="3324308" cy="2393502"/>
      </dsp:txXfrm>
    </dsp:sp>
    <dsp:sp modelId="{551DFBBB-DC17-49EF-80E9-BFE704C8AED7}">
      <dsp:nvSpPr>
        <dsp:cNvPr id="0" name=""/>
        <dsp:cNvSpPr/>
      </dsp:nvSpPr>
      <dsp:spPr>
        <a:xfrm>
          <a:off x="7181326" y="273126"/>
          <a:ext cx="3324308" cy="159566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368" tIns="165100" rIns="328368"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1326" y="273126"/>
        <a:ext cx="3324308" cy="159566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5/16/2023</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7134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5/16/2023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78248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5/16/2023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56837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5/16/2023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56864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5/16/2023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2619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5/16/2023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48051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5/16/2023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6115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5/16/2023</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79111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5/16/2023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75795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5/16/2023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60392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5/16/2023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62152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5/16/2023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62304257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p:cNvSpPr>
            <a:spLocks noGrp="1"/>
          </p:cNvSpPr>
          <p:nvPr>
            <p:ph type="ctrTitle"/>
          </p:nvPr>
        </p:nvSpPr>
        <p:spPr>
          <a:xfrm>
            <a:off x="1524003" y="1999615"/>
            <a:ext cx="9144000" cy="2764028"/>
          </a:xfrm>
        </p:spPr>
        <p:txBody>
          <a:bodyPr anchor="ctr">
            <a:normAutofit fontScale="90000"/>
          </a:bodyPr>
          <a:lstStyle/>
          <a:p>
            <a:pPr algn="ctr"/>
            <a:r>
              <a:rPr lang="tr-TR" sz="7200" dirty="0"/>
              <a:t>5.5 </a:t>
            </a:r>
            <a:r>
              <a:rPr lang="tr-TR" sz="7200" dirty="0">
                <a:ea typeface="+mj-lt"/>
                <a:cs typeface="+mj-lt"/>
              </a:rPr>
              <a:t>KANUNİ DÖNEMİ VE BATI-DOĞU'DAKİ GELİŞMELER</a:t>
            </a:r>
            <a:endParaRPr lang="tr-TR" sz="7200" dirty="0"/>
          </a:p>
        </p:txBody>
      </p:sp>
      <p:sp>
        <p:nvSpPr>
          <p:cNvPr id="3" name="Alt Başlık 2"/>
          <p:cNvSpPr>
            <a:spLocks noGrp="1"/>
          </p:cNvSpPr>
          <p:nvPr>
            <p:ph type="subTitle" idx="1"/>
          </p:nvPr>
        </p:nvSpPr>
        <p:spPr>
          <a:xfrm>
            <a:off x="1966912" y="5645150"/>
            <a:ext cx="8258176" cy="631825"/>
          </a:xfrm>
        </p:spPr>
        <p:txBody>
          <a:bodyPr anchor="ctr">
            <a:normAutofit/>
          </a:bodyPr>
          <a:lstStyle/>
          <a:p>
            <a:pPr algn="ctr"/>
            <a:r>
              <a:rPr lang="tr-TR" dirty="0"/>
              <a:t>Efe Anık</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ydınlatılan San Francisco Belediye Binası">
            <a:extLst>
              <a:ext uri="{FF2B5EF4-FFF2-40B4-BE49-F238E27FC236}">
                <a16:creationId xmlns:a16="http://schemas.microsoft.com/office/drawing/2014/main" id="{BF77FF20-559A-0C06-E301-7D5BD2E28BEF}"/>
              </a:ext>
            </a:extLst>
          </p:cNvPr>
          <p:cNvPicPr>
            <a:picLocks noChangeAspect="1"/>
          </p:cNvPicPr>
          <p:nvPr/>
        </p:nvPicPr>
        <p:blipFill rotWithShape="1">
          <a:blip r:embed="rId2"/>
          <a:srcRect l="3399" r="12228" b="-1"/>
          <a:stretch/>
        </p:blipFill>
        <p:spPr>
          <a:xfrm>
            <a:off x="3522468" y="10"/>
            <a:ext cx="8669532" cy="6857990"/>
          </a:xfrm>
          <a:prstGeom prst="rect">
            <a:avLst/>
          </a:prstGeom>
        </p:spPr>
      </p:pic>
      <p:sp>
        <p:nvSpPr>
          <p:cNvPr id="22" name="Rectangle 21">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F39121FB-C180-B2E4-858B-8A48FBD198B2}"/>
              </a:ext>
            </a:extLst>
          </p:cNvPr>
          <p:cNvSpPr>
            <a:spLocks noGrp="1"/>
          </p:cNvSpPr>
          <p:nvPr>
            <p:ph type="title"/>
          </p:nvPr>
        </p:nvSpPr>
        <p:spPr>
          <a:xfrm>
            <a:off x="371094" y="1161288"/>
            <a:ext cx="3438144" cy="1124712"/>
          </a:xfrm>
        </p:spPr>
        <p:txBody>
          <a:bodyPr anchor="b">
            <a:normAutofit/>
          </a:bodyPr>
          <a:lstStyle/>
          <a:p>
            <a:r>
              <a:rPr lang="tr-TR" sz="2600" dirty="0"/>
              <a:t>Kanuni Dönemi</a:t>
            </a:r>
          </a:p>
        </p:txBody>
      </p:sp>
      <p:sp>
        <p:nvSpPr>
          <p:cNvPr id="24" name="Rectangle 2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FD474E0D-9125-A899-B475-BAA417FA6973}"/>
              </a:ext>
            </a:extLst>
          </p:cNvPr>
          <p:cNvSpPr>
            <a:spLocks noGrp="1"/>
          </p:cNvSpPr>
          <p:nvPr>
            <p:ph idx="1"/>
          </p:nvPr>
        </p:nvSpPr>
        <p:spPr>
          <a:xfrm>
            <a:off x="371094" y="2718054"/>
            <a:ext cx="3986258" cy="3797539"/>
          </a:xfrm>
        </p:spPr>
        <p:txBody>
          <a:bodyPr vert="horz" lIns="91440" tIns="45720" rIns="91440" bIns="45720" rtlCol="0" anchor="t">
            <a:normAutofit/>
          </a:bodyPr>
          <a:lstStyle/>
          <a:p>
            <a:pPr marL="0" indent="0">
              <a:buNone/>
            </a:pPr>
            <a:r>
              <a:rPr lang="tr-TR" sz="1700" dirty="0">
                <a:ea typeface="+mn-lt"/>
                <a:cs typeface="+mn-lt"/>
              </a:rPr>
              <a:t>Kanuni, babası Yavuz'un ölümünden sonra 1520 yılında tahta geçti.  Babasından siyasi, ekonomik ve askeri açıdan çok güçlü bir devlet devralmıştı. Avrupa devletleri, coğrafi keşifler ve Rönesans'ın etkisiyle kalkınma çabaları içindeydi. </a:t>
            </a:r>
            <a:r>
              <a:rPr lang="tr-TR" sz="1700" dirty="0">
                <a:solidFill>
                  <a:srgbClr val="222222"/>
                </a:solidFill>
                <a:ea typeface="+mn-lt"/>
                <a:cs typeface="+mn-lt"/>
              </a:rPr>
              <a:t>Reform hareketlerinin etkisiyle dini ve siyasi karışıklıklar da yaşanıyordu. Ayrıca, İngiltere ve Fransa Yüzyıl Savaşları sebebiyle güç kaybetmişlerdi.</a:t>
            </a:r>
            <a:endParaRPr lang="tr-TR" sz="1700" dirty="0"/>
          </a:p>
          <a:p>
            <a:endParaRPr lang="tr-TR" sz="1700"/>
          </a:p>
        </p:txBody>
      </p:sp>
    </p:spTree>
    <p:extLst>
      <p:ext uri="{BB962C8B-B14F-4D97-AF65-F5344CB8AC3E}">
        <p14:creationId xmlns:p14="http://schemas.microsoft.com/office/powerpoint/2010/main" val="410866225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F58FBF94-AF7D-1B69-3666-721DFAC26AF6}"/>
              </a:ext>
            </a:extLst>
          </p:cNvPr>
          <p:cNvSpPr>
            <a:spLocks noGrp="1"/>
          </p:cNvSpPr>
          <p:nvPr>
            <p:ph type="title"/>
          </p:nvPr>
        </p:nvSpPr>
        <p:spPr>
          <a:xfrm>
            <a:off x="621792" y="1161288"/>
            <a:ext cx="3602736" cy="4526280"/>
          </a:xfrm>
        </p:spPr>
        <p:txBody>
          <a:bodyPr>
            <a:normAutofit/>
          </a:bodyPr>
          <a:lstStyle/>
          <a:p>
            <a:r>
              <a:rPr lang="tr-TR" dirty="0"/>
              <a:t>Kanuni Dönemi</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8A7B4AB6-0D09-D9B7-53F7-D163F1CA40C6}"/>
              </a:ext>
            </a:extLst>
          </p:cNvPr>
          <p:cNvSpPr>
            <a:spLocks noGrp="1"/>
          </p:cNvSpPr>
          <p:nvPr>
            <p:ph idx="1"/>
          </p:nvPr>
        </p:nvSpPr>
        <p:spPr>
          <a:xfrm>
            <a:off x="5434149" y="932688"/>
            <a:ext cx="5916603" cy="4992624"/>
          </a:xfrm>
        </p:spPr>
        <p:txBody>
          <a:bodyPr vert="horz" lIns="91440" tIns="45720" rIns="91440" bIns="45720" rtlCol="0" anchor="ctr">
            <a:normAutofit/>
          </a:bodyPr>
          <a:lstStyle/>
          <a:p>
            <a:pPr marL="0" indent="0">
              <a:buNone/>
            </a:pPr>
            <a:r>
              <a:rPr lang="tr-TR" sz="2000" dirty="0">
                <a:ea typeface="+mn-lt"/>
                <a:cs typeface="+mn-lt"/>
              </a:rPr>
              <a:t>Roma-Germen imparatoru </a:t>
            </a:r>
            <a:r>
              <a:rPr lang="tr-TR" sz="2000" dirty="0">
                <a:solidFill>
                  <a:srgbClr val="FF0000"/>
                </a:solidFill>
                <a:ea typeface="+mn-lt"/>
                <a:cs typeface="+mn-lt"/>
              </a:rPr>
              <a:t>Şarlken</a:t>
            </a:r>
            <a:r>
              <a:rPr lang="tr-TR" sz="2000" dirty="0">
                <a:ea typeface="+mn-lt"/>
                <a:cs typeface="+mn-lt"/>
              </a:rPr>
              <a:t>, Almanya, Avusturya, Macaristan, Hollanda ve İspanya ile akrabalık bağları kurarak, Avrupa'nın en güçlü devletine sahipti. </a:t>
            </a:r>
            <a:r>
              <a:rPr lang="tr-TR" sz="2000" dirty="0">
                <a:solidFill>
                  <a:srgbClr val="FF0000"/>
                </a:solidFill>
                <a:ea typeface="+mn-lt"/>
                <a:cs typeface="+mn-lt"/>
              </a:rPr>
              <a:t>Şarlken</a:t>
            </a:r>
            <a:r>
              <a:rPr lang="tr-TR" sz="2000" dirty="0">
                <a:ea typeface="+mn-lt"/>
                <a:cs typeface="+mn-lt"/>
              </a:rPr>
              <a:t> hem Osmanlı bölgesi olan balkanlarda ilerleme politikası izliyor, hem de Osmanlı aleyhine İran ile ittifak içinde bulunuyordu. </a:t>
            </a:r>
            <a:r>
              <a:rPr lang="tr-TR" sz="2000" dirty="0">
                <a:solidFill>
                  <a:srgbClr val="222222"/>
                </a:solidFill>
                <a:ea typeface="+mn-lt"/>
                <a:cs typeface="+mn-lt"/>
              </a:rPr>
              <a:t>Venediklilerle işbirliği yaparak Akdeniz ve Afrika kıyılarında güçlü bir donanma oluşturmuştu. </a:t>
            </a:r>
            <a:r>
              <a:rPr lang="tr-TR" sz="2000" dirty="0">
                <a:solidFill>
                  <a:srgbClr val="000000"/>
                </a:solidFill>
                <a:ea typeface="+mn-lt"/>
                <a:cs typeface="+mn-lt"/>
              </a:rPr>
              <a:t>Portekizliler</a:t>
            </a:r>
            <a:r>
              <a:rPr lang="tr-TR" sz="2000" dirty="0">
                <a:ea typeface="+mn-lt"/>
                <a:cs typeface="+mn-lt"/>
              </a:rPr>
              <a:t> ise coğrafi keşifler ile Hindistan'a ulaşmışlardı ve Osmanlı'nın elindeki baharat ticaretini engellemeye çalışıyorlardı.</a:t>
            </a:r>
            <a:endParaRPr lang="tr-TR" sz="2000" dirty="0" err="1"/>
          </a:p>
        </p:txBody>
      </p:sp>
    </p:spTree>
    <p:extLst>
      <p:ext uri="{BB962C8B-B14F-4D97-AF65-F5344CB8AC3E}">
        <p14:creationId xmlns:p14="http://schemas.microsoft.com/office/powerpoint/2010/main" val="419668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2AC4292-7BCC-912D-5FC1-0A7F61BBF32F}"/>
              </a:ext>
            </a:extLst>
          </p:cNvPr>
          <p:cNvSpPr>
            <a:spLocks noGrp="1"/>
          </p:cNvSpPr>
          <p:nvPr>
            <p:ph type="title"/>
          </p:nvPr>
        </p:nvSpPr>
        <p:spPr/>
        <p:txBody>
          <a:bodyPr/>
          <a:lstStyle/>
          <a:p>
            <a:r>
              <a:rPr lang="tr-TR" dirty="0">
                <a:solidFill>
                  <a:srgbClr val="222222"/>
                </a:solidFill>
              </a:rPr>
              <a:t>Osmanlı-Macar İlişkileri</a:t>
            </a:r>
            <a:endParaRPr lang="tr-TR" sz="1100" b="1" dirty="0">
              <a:solidFill>
                <a:srgbClr val="222222"/>
              </a:solidFill>
            </a:endParaRPr>
          </a:p>
        </p:txBody>
      </p:sp>
      <p:sp>
        <p:nvSpPr>
          <p:cNvPr id="3" name="İçerik Yer Tutucusu 2">
            <a:extLst>
              <a:ext uri="{FF2B5EF4-FFF2-40B4-BE49-F238E27FC236}">
                <a16:creationId xmlns:a16="http://schemas.microsoft.com/office/drawing/2014/main" id="{251B7FF1-E806-20F8-9479-C8DC9D72F93B}"/>
              </a:ext>
            </a:extLst>
          </p:cNvPr>
          <p:cNvSpPr>
            <a:spLocks noGrp="1"/>
          </p:cNvSpPr>
          <p:nvPr>
            <p:ph idx="1"/>
          </p:nvPr>
        </p:nvSpPr>
        <p:spPr/>
        <p:txBody>
          <a:bodyPr vert="horz" lIns="91440" tIns="45720" rIns="91440" bIns="45720" rtlCol="0" anchor="t">
            <a:normAutofit/>
          </a:bodyPr>
          <a:lstStyle/>
          <a:p>
            <a:pPr marL="0" indent="0" algn="just">
              <a:buNone/>
            </a:pPr>
            <a:r>
              <a:rPr lang="tr-TR" sz="2000" dirty="0">
                <a:solidFill>
                  <a:srgbClr val="222222"/>
                </a:solidFill>
                <a:ea typeface="+mn-lt"/>
                <a:cs typeface="+mn-lt"/>
              </a:rPr>
              <a:t>Roma-Germen İmparatorluğu'na ve Avusturya'ya akrabalık bağı ile bağlı olan Macaristan, Balkan topraklarını ele geçirmek istiyordu. Macar kralı II. </a:t>
            </a:r>
            <a:r>
              <a:rPr lang="tr-TR" sz="2000" dirty="0" err="1">
                <a:solidFill>
                  <a:srgbClr val="222222"/>
                </a:solidFill>
                <a:ea typeface="+mn-lt"/>
                <a:cs typeface="+mn-lt"/>
              </a:rPr>
              <a:t>Layoş</a:t>
            </a:r>
            <a:r>
              <a:rPr lang="tr-TR" sz="2000" dirty="0">
                <a:solidFill>
                  <a:srgbClr val="222222"/>
                </a:solidFill>
                <a:ea typeface="+mn-lt"/>
                <a:cs typeface="+mn-lt"/>
              </a:rPr>
              <a:t>, Şarlken'e güvenerek, Osmanlı'ya karşı geliyor ve Balkan devletlerini Osmanlı'ya karşı kışkırtıyordu.</a:t>
            </a:r>
            <a:endParaRPr lang="tr-TR" sz="2000"/>
          </a:p>
          <a:p>
            <a:endParaRPr lang="tr-TR" dirty="0"/>
          </a:p>
        </p:txBody>
      </p:sp>
    </p:spTree>
    <p:extLst>
      <p:ext uri="{BB962C8B-B14F-4D97-AF65-F5344CB8AC3E}">
        <p14:creationId xmlns:p14="http://schemas.microsoft.com/office/powerpoint/2010/main" val="234805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4CE5841-C184-4A70-A609-5FE4A5078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D3E9C19-DCDF-CDD0-C5E9-CE9CF3733E5F}"/>
              </a:ext>
            </a:extLst>
          </p:cNvPr>
          <p:cNvSpPr>
            <a:spLocks noGrp="1"/>
          </p:cNvSpPr>
          <p:nvPr>
            <p:ph type="title"/>
          </p:nvPr>
        </p:nvSpPr>
        <p:spPr>
          <a:xfrm>
            <a:off x="841248" y="1683169"/>
            <a:ext cx="4068849" cy="4148586"/>
          </a:xfrm>
        </p:spPr>
        <p:txBody>
          <a:bodyPr anchor="t">
            <a:normAutofit/>
          </a:bodyPr>
          <a:lstStyle/>
          <a:p>
            <a:r>
              <a:rPr lang="tr-TR" sz="4800"/>
              <a:t>Belgradı'ın Fethi (1521)</a:t>
            </a:r>
          </a:p>
        </p:txBody>
      </p:sp>
      <p:sp>
        <p:nvSpPr>
          <p:cNvPr id="3" name="İçerik Yer Tutucusu 2">
            <a:extLst>
              <a:ext uri="{FF2B5EF4-FFF2-40B4-BE49-F238E27FC236}">
                <a16:creationId xmlns:a16="http://schemas.microsoft.com/office/drawing/2014/main" id="{F2601D39-AB18-DB29-7054-0800D5214C4E}"/>
              </a:ext>
            </a:extLst>
          </p:cNvPr>
          <p:cNvSpPr>
            <a:spLocks noGrp="1"/>
          </p:cNvSpPr>
          <p:nvPr>
            <p:ph idx="1"/>
          </p:nvPr>
        </p:nvSpPr>
        <p:spPr>
          <a:xfrm>
            <a:off x="5532504" y="1683170"/>
            <a:ext cx="5818248" cy="4148585"/>
          </a:xfrm>
        </p:spPr>
        <p:txBody>
          <a:bodyPr vert="horz" lIns="91440" tIns="45720" rIns="91440" bIns="45720" rtlCol="0">
            <a:normAutofit/>
          </a:bodyPr>
          <a:lstStyle/>
          <a:p>
            <a:pPr marL="0" indent="0">
              <a:buNone/>
            </a:pPr>
            <a:r>
              <a:rPr lang="tr-TR" sz="2000">
                <a:ea typeface="+mn-lt"/>
                <a:cs typeface="+mn-lt"/>
              </a:rPr>
              <a:t>Kanuni'nin Macaristan'a gönderdiği elçinin öldürülmesi üzerine, Belgrad fethedildi. Avrupa'yı Balkanlara bağlayan Belgrad, Avrupa fetihleri için bir üs haline getirildi. Böylece Orta Avrupa'nın kapısı açılmış oldu.</a:t>
            </a:r>
            <a:endParaRPr lang="tr-TR" sz="2000"/>
          </a:p>
          <a:p>
            <a:endParaRPr lang="tr-TR" sz="2000"/>
          </a:p>
        </p:txBody>
      </p:sp>
      <p:sp>
        <p:nvSpPr>
          <p:cNvPr id="22" name="Rectangle 21">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16936" y="4000284"/>
            <a:ext cx="54864" cy="420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179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Resim 4" descr="harita içeren bir resim&#10;&#10;Açıklama otomatik olarak oluşturuldu">
            <a:extLst>
              <a:ext uri="{FF2B5EF4-FFF2-40B4-BE49-F238E27FC236}">
                <a16:creationId xmlns:a16="http://schemas.microsoft.com/office/drawing/2014/main" id="{71A45D95-21FE-0412-62CC-0C902A5AF8FD}"/>
              </a:ext>
            </a:extLst>
          </p:cNvPr>
          <p:cNvPicPr>
            <a:picLocks noChangeAspect="1"/>
          </p:cNvPicPr>
          <p:nvPr/>
        </p:nvPicPr>
        <p:blipFill rotWithShape="1">
          <a:blip r:embed="rId2"/>
          <a:srcRect l="144" r="2" b="2"/>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7627C618-2052-9562-FCCD-693359BC9BB3}"/>
              </a:ext>
            </a:extLst>
          </p:cNvPr>
          <p:cNvSpPr>
            <a:spLocks noGrp="1"/>
          </p:cNvSpPr>
          <p:nvPr>
            <p:ph type="title"/>
          </p:nvPr>
        </p:nvSpPr>
        <p:spPr>
          <a:xfrm>
            <a:off x="371094" y="1161288"/>
            <a:ext cx="3438144" cy="1124712"/>
          </a:xfrm>
        </p:spPr>
        <p:txBody>
          <a:bodyPr anchor="b">
            <a:noAutofit/>
          </a:bodyPr>
          <a:lstStyle/>
          <a:p>
            <a:r>
              <a:rPr lang="tr-TR" sz="2800" dirty="0">
                <a:solidFill>
                  <a:srgbClr val="222222"/>
                </a:solidFill>
                <a:ea typeface="+mj-lt"/>
                <a:cs typeface="+mj-lt"/>
              </a:rPr>
              <a:t>Mohaç Meydan Savaşı (1526)</a:t>
            </a:r>
            <a:endParaRPr lang="tr-TR" sz="2800" dirty="0"/>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B15C2812-E5FE-445C-E049-79F8C3C9B5D8}"/>
              </a:ext>
            </a:extLst>
          </p:cNvPr>
          <p:cNvSpPr>
            <a:spLocks noGrp="1"/>
          </p:cNvSpPr>
          <p:nvPr>
            <p:ph idx="1"/>
          </p:nvPr>
        </p:nvSpPr>
        <p:spPr>
          <a:xfrm>
            <a:off x="371094" y="2718054"/>
            <a:ext cx="3438906" cy="3207258"/>
          </a:xfrm>
        </p:spPr>
        <p:txBody>
          <a:bodyPr anchor="t">
            <a:normAutofit lnSpcReduction="10000"/>
          </a:bodyPr>
          <a:lstStyle/>
          <a:p>
            <a:pPr marL="0" indent="0">
              <a:buNone/>
            </a:pPr>
            <a:r>
              <a:rPr lang="en-US" sz="1700" dirty="0" err="1">
                <a:solidFill>
                  <a:srgbClr val="222222"/>
                </a:solidFill>
                <a:ea typeface="+mn-lt"/>
                <a:cs typeface="+mn-lt"/>
              </a:rPr>
              <a:t>Macaristan'ın</a:t>
            </a:r>
            <a:r>
              <a:rPr lang="en-US" sz="1700" dirty="0">
                <a:solidFill>
                  <a:srgbClr val="222222"/>
                </a:solidFill>
                <a:ea typeface="+mn-lt"/>
                <a:cs typeface="+mn-lt"/>
              </a:rPr>
              <a:t> </a:t>
            </a:r>
            <a:r>
              <a:rPr lang="en-US" sz="1700" dirty="0" err="1">
                <a:solidFill>
                  <a:srgbClr val="222222"/>
                </a:solidFill>
                <a:ea typeface="+mn-lt"/>
                <a:cs typeface="+mn-lt"/>
              </a:rPr>
              <a:t>Belgrad'ı</a:t>
            </a:r>
            <a:r>
              <a:rPr lang="en-US" sz="1700" dirty="0">
                <a:solidFill>
                  <a:srgbClr val="222222"/>
                </a:solidFill>
                <a:ea typeface="+mn-lt"/>
                <a:cs typeface="+mn-lt"/>
              </a:rPr>
              <a:t> </a:t>
            </a:r>
            <a:r>
              <a:rPr lang="en-US" sz="1700" dirty="0" err="1">
                <a:solidFill>
                  <a:srgbClr val="222222"/>
                </a:solidFill>
                <a:ea typeface="+mn-lt"/>
                <a:cs typeface="+mn-lt"/>
              </a:rPr>
              <a:t>geri</a:t>
            </a:r>
            <a:r>
              <a:rPr lang="en-US" sz="1700" dirty="0">
                <a:solidFill>
                  <a:srgbClr val="222222"/>
                </a:solidFill>
                <a:ea typeface="+mn-lt"/>
                <a:cs typeface="+mn-lt"/>
              </a:rPr>
              <a:t> </a:t>
            </a:r>
            <a:r>
              <a:rPr lang="en-US" sz="1700" dirty="0" err="1">
                <a:solidFill>
                  <a:srgbClr val="222222"/>
                </a:solidFill>
                <a:ea typeface="+mn-lt"/>
                <a:cs typeface="+mn-lt"/>
              </a:rPr>
              <a:t>almak</a:t>
            </a:r>
            <a:r>
              <a:rPr lang="en-US" sz="1700" dirty="0">
                <a:solidFill>
                  <a:srgbClr val="222222"/>
                </a:solidFill>
                <a:ea typeface="+mn-lt"/>
                <a:cs typeface="+mn-lt"/>
              </a:rPr>
              <a:t> </a:t>
            </a:r>
            <a:r>
              <a:rPr lang="en-US" sz="1700" dirty="0" err="1">
                <a:solidFill>
                  <a:srgbClr val="222222"/>
                </a:solidFill>
                <a:ea typeface="+mn-lt"/>
                <a:cs typeface="+mn-lt"/>
              </a:rPr>
              <a:t>istemesi</a:t>
            </a:r>
            <a:r>
              <a:rPr lang="en-US" sz="1700" dirty="0">
                <a:solidFill>
                  <a:srgbClr val="222222"/>
                </a:solidFill>
                <a:ea typeface="+mn-lt"/>
                <a:cs typeface="+mn-lt"/>
              </a:rPr>
              <a:t> </a:t>
            </a:r>
            <a:r>
              <a:rPr lang="en-US" sz="1700" dirty="0" err="1">
                <a:solidFill>
                  <a:srgbClr val="222222"/>
                </a:solidFill>
                <a:ea typeface="+mn-lt"/>
                <a:cs typeface="+mn-lt"/>
              </a:rPr>
              <a:t>üzerine</a:t>
            </a:r>
            <a:r>
              <a:rPr lang="en-US" sz="1700" dirty="0">
                <a:solidFill>
                  <a:srgbClr val="222222"/>
                </a:solidFill>
                <a:ea typeface="+mn-lt"/>
                <a:cs typeface="+mn-lt"/>
              </a:rPr>
              <a:t> </a:t>
            </a:r>
            <a:r>
              <a:rPr lang="en-US" sz="1700" dirty="0" err="1">
                <a:solidFill>
                  <a:srgbClr val="222222"/>
                </a:solidFill>
                <a:ea typeface="+mn-lt"/>
                <a:cs typeface="+mn-lt"/>
              </a:rPr>
              <a:t>Omanlı</a:t>
            </a:r>
            <a:r>
              <a:rPr lang="en-US" sz="1700" dirty="0">
                <a:solidFill>
                  <a:srgbClr val="222222"/>
                </a:solidFill>
                <a:ea typeface="+mn-lt"/>
                <a:cs typeface="+mn-lt"/>
              </a:rPr>
              <a:t>-Macar </a:t>
            </a:r>
            <a:r>
              <a:rPr lang="en-US" sz="1700" dirty="0" err="1">
                <a:solidFill>
                  <a:srgbClr val="222222"/>
                </a:solidFill>
                <a:ea typeface="+mn-lt"/>
                <a:cs typeface="+mn-lt"/>
              </a:rPr>
              <a:t>ilişkileri</a:t>
            </a:r>
            <a:r>
              <a:rPr lang="en-US" sz="1700" dirty="0">
                <a:solidFill>
                  <a:srgbClr val="222222"/>
                </a:solidFill>
                <a:ea typeface="+mn-lt"/>
                <a:cs typeface="+mn-lt"/>
              </a:rPr>
              <a:t> </a:t>
            </a:r>
            <a:r>
              <a:rPr lang="en-US" sz="1700" dirty="0" err="1">
                <a:solidFill>
                  <a:srgbClr val="222222"/>
                </a:solidFill>
                <a:ea typeface="+mn-lt"/>
                <a:cs typeface="+mn-lt"/>
              </a:rPr>
              <a:t>tekrar</a:t>
            </a:r>
            <a:r>
              <a:rPr lang="en-US" sz="1700" dirty="0">
                <a:solidFill>
                  <a:srgbClr val="222222"/>
                </a:solidFill>
                <a:ea typeface="+mn-lt"/>
                <a:cs typeface="+mn-lt"/>
              </a:rPr>
              <a:t> </a:t>
            </a:r>
            <a:r>
              <a:rPr lang="en-US" sz="1700" dirty="0" err="1">
                <a:solidFill>
                  <a:srgbClr val="222222"/>
                </a:solidFill>
                <a:ea typeface="+mn-lt"/>
                <a:cs typeface="+mn-lt"/>
              </a:rPr>
              <a:t>bozuldu</a:t>
            </a:r>
            <a:r>
              <a:rPr lang="en-US" sz="1700" dirty="0">
                <a:solidFill>
                  <a:srgbClr val="222222"/>
                </a:solidFill>
                <a:ea typeface="+mn-lt"/>
                <a:cs typeface="+mn-lt"/>
              </a:rPr>
              <a:t>. Fransa </a:t>
            </a:r>
            <a:r>
              <a:rPr lang="en-US" sz="1700" dirty="0" err="1">
                <a:solidFill>
                  <a:srgbClr val="222222"/>
                </a:solidFill>
                <a:ea typeface="+mn-lt"/>
                <a:cs typeface="+mn-lt"/>
              </a:rPr>
              <a:t>kralı</a:t>
            </a:r>
            <a:r>
              <a:rPr lang="en-US" sz="1700" dirty="0">
                <a:solidFill>
                  <a:srgbClr val="222222"/>
                </a:solidFill>
                <a:ea typeface="+mn-lt"/>
                <a:cs typeface="+mn-lt"/>
              </a:rPr>
              <a:t> </a:t>
            </a:r>
            <a:r>
              <a:rPr lang="en-US" sz="1700" dirty="0" err="1">
                <a:solidFill>
                  <a:srgbClr val="222222"/>
                </a:solidFill>
                <a:ea typeface="+mn-lt"/>
                <a:cs typeface="+mn-lt"/>
              </a:rPr>
              <a:t>Fransuva'nın</a:t>
            </a:r>
            <a:r>
              <a:rPr lang="en-US" sz="1700" dirty="0">
                <a:solidFill>
                  <a:srgbClr val="222222"/>
                </a:solidFill>
                <a:ea typeface="+mn-lt"/>
                <a:cs typeface="+mn-lt"/>
              </a:rPr>
              <a:t>, Roma-Germen </a:t>
            </a:r>
            <a:r>
              <a:rPr lang="en-US" sz="1700" dirty="0" err="1">
                <a:solidFill>
                  <a:srgbClr val="222222"/>
                </a:solidFill>
                <a:ea typeface="+mn-lt"/>
                <a:cs typeface="+mn-lt"/>
              </a:rPr>
              <a:t>imparatoru</a:t>
            </a:r>
            <a:r>
              <a:rPr lang="en-US" sz="1700" dirty="0">
                <a:solidFill>
                  <a:srgbClr val="222222"/>
                </a:solidFill>
                <a:ea typeface="+mn-lt"/>
                <a:cs typeface="+mn-lt"/>
              </a:rPr>
              <a:t> </a:t>
            </a:r>
            <a:r>
              <a:rPr lang="en-US" sz="1700" dirty="0" err="1">
                <a:solidFill>
                  <a:srgbClr val="222222"/>
                </a:solidFill>
                <a:ea typeface="+mn-lt"/>
                <a:cs typeface="+mn-lt"/>
              </a:rPr>
              <a:t>Şarlken'e</a:t>
            </a:r>
            <a:r>
              <a:rPr lang="en-US" sz="1700" dirty="0">
                <a:solidFill>
                  <a:srgbClr val="222222"/>
                </a:solidFill>
                <a:ea typeface="+mn-lt"/>
                <a:cs typeface="+mn-lt"/>
              </a:rPr>
              <a:t> </a:t>
            </a:r>
            <a:r>
              <a:rPr lang="en-US" sz="1700" dirty="0" err="1">
                <a:solidFill>
                  <a:srgbClr val="222222"/>
                </a:solidFill>
                <a:ea typeface="+mn-lt"/>
                <a:cs typeface="+mn-lt"/>
              </a:rPr>
              <a:t>esir</a:t>
            </a:r>
            <a:r>
              <a:rPr lang="en-US" sz="1700" dirty="0">
                <a:solidFill>
                  <a:srgbClr val="222222"/>
                </a:solidFill>
                <a:ea typeface="+mn-lt"/>
                <a:cs typeface="+mn-lt"/>
              </a:rPr>
              <a:t> </a:t>
            </a:r>
            <a:r>
              <a:rPr lang="en-US" sz="1700" dirty="0" err="1">
                <a:solidFill>
                  <a:srgbClr val="222222"/>
                </a:solidFill>
                <a:ea typeface="+mn-lt"/>
                <a:cs typeface="+mn-lt"/>
              </a:rPr>
              <a:t>düşmesi</a:t>
            </a:r>
            <a:r>
              <a:rPr lang="en-US" sz="1700" dirty="0">
                <a:solidFill>
                  <a:srgbClr val="222222"/>
                </a:solidFill>
                <a:ea typeface="+mn-lt"/>
                <a:cs typeface="+mn-lt"/>
              </a:rPr>
              <a:t> </a:t>
            </a:r>
            <a:r>
              <a:rPr lang="en-US" sz="1700" dirty="0" err="1">
                <a:solidFill>
                  <a:srgbClr val="222222"/>
                </a:solidFill>
                <a:ea typeface="+mn-lt"/>
                <a:cs typeface="+mn-lt"/>
              </a:rPr>
              <a:t>üzerine</a:t>
            </a:r>
            <a:r>
              <a:rPr lang="en-US" sz="1700" dirty="0">
                <a:solidFill>
                  <a:srgbClr val="222222"/>
                </a:solidFill>
                <a:ea typeface="+mn-lt"/>
                <a:cs typeface="+mn-lt"/>
              </a:rPr>
              <a:t>, Fransa </a:t>
            </a:r>
            <a:r>
              <a:rPr lang="en-US" sz="1700" dirty="0" err="1">
                <a:solidFill>
                  <a:srgbClr val="222222"/>
                </a:solidFill>
                <a:ea typeface="+mn-lt"/>
                <a:cs typeface="+mn-lt"/>
              </a:rPr>
              <a:t>Osmanlı</a:t>
            </a:r>
            <a:r>
              <a:rPr lang="en-US" sz="1700" dirty="0">
                <a:solidFill>
                  <a:srgbClr val="222222"/>
                </a:solidFill>
                <a:ea typeface="+mn-lt"/>
                <a:cs typeface="+mn-lt"/>
              </a:rPr>
              <a:t> </a:t>
            </a:r>
            <a:r>
              <a:rPr lang="en-US" sz="1700" dirty="0" err="1">
                <a:solidFill>
                  <a:srgbClr val="222222"/>
                </a:solidFill>
                <a:ea typeface="+mn-lt"/>
                <a:cs typeface="+mn-lt"/>
              </a:rPr>
              <a:t>Devleti'nden</a:t>
            </a:r>
            <a:r>
              <a:rPr lang="en-US" sz="1700" dirty="0">
                <a:solidFill>
                  <a:srgbClr val="222222"/>
                </a:solidFill>
                <a:ea typeface="+mn-lt"/>
                <a:cs typeface="+mn-lt"/>
              </a:rPr>
              <a:t> </a:t>
            </a:r>
            <a:r>
              <a:rPr lang="en-US" sz="1700" dirty="0" err="1">
                <a:solidFill>
                  <a:srgbClr val="222222"/>
                </a:solidFill>
                <a:ea typeface="+mn-lt"/>
                <a:cs typeface="+mn-lt"/>
              </a:rPr>
              <a:t>yardım</a:t>
            </a:r>
            <a:r>
              <a:rPr lang="en-US" sz="1700" dirty="0">
                <a:solidFill>
                  <a:srgbClr val="222222"/>
                </a:solidFill>
                <a:ea typeface="+mn-lt"/>
                <a:cs typeface="+mn-lt"/>
              </a:rPr>
              <a:t> </a:t>
            </a:r>
            <a:r>
              <a:rPr lang="en-US" sz="1700" dirty="0" err="1">
                <a:solidFill>
                  <a:srgbClr val="222222"/>
                </a:solidFill>
                <a:ea typeface="+mn-lt"/>
                <a:cs typeface="+mn-lt"/>
              </a:rPr>
              <a:t>istedi</a:t>
            </a:r>
            <a:r>
              <a:rPr lang="en-US" sz="1700" dirty="0">
                <a:solidFill>
                  <a:srgbClr val="222222"/>
                </a:solidFill>
                <a:ea typeface="+mn-lt"/>
                <a:cs typeface="+mn-lt"/>
              </a:rPr>
              <a:t>. İki </a:t>
            </a:r>
            <a:r>
              <a:rPr lang="en-US" sz="1700" dirty="0" err="1">
                <a:solidFill>
                  <a:srgbClr val="222222"/>
                </a:solidFill>
                <a:ea typeface="+mn-lt"/>
                <a:cs typeface="+mn-lt"/>
              </a:rPr>
              <a:t>saat</a:t>
            </a:r>
            <a:r>
              <a:rPr lang="en-US" sz="1700" dirty="0">
                <a:solidFill>
                  <a:srgbClr val="222222"/>
                </a:solidFill>
                <a:ea typeface="+mn-lt"/>
                <a:cs typeface="+mn-lt"/>
              </a:rPr>
              <a:t> </a:t>
            </a:r>
            <a:r>
              <a:rPr lang="en-US" sz="1700" dirty="0" err="1">
                <a:solidFill>
                  <a:srgbClr val="222222"/>
                </a:solidFill>
                <a:ea typeface="+mn-lt"/>
                <a:cs typeface="+mn-lt"/>
              </a:rPr>
              <a:t>süren</a:t>
            </a:r>
            <a:r>
              <a:rPr lang="en-US" sz="1700" dirty="0">
                <a:solidFill>
                  <a:srgbClr val="222222"/>
                </a:solidFill>
                <a:ea typeface="+mn-lt"/>
                <a:cs typeface="+mn-lt"/>
              </a:rPr>
              <a:t> </a:t>
            </a:r>
            <a:r>
              <a:rPr lang="en-US" sz="1700" dirty="0" err="1">
                <a:solidFill>
                  <a:srgbClr val="222222"/>
                </a:solidFill>
                <a:ea typeface="+mn-lt"/>
                <a:cs typeface="+mn-lt"/>
              </a:rPr>
              <a:t>savaşta</a:t>
            </a:r>
            <a:r>
              <a:rPr lang="en-US" sz="1700" dirty="0">
                <a:solidFill>
                  <a:srgbClr val="222222"/>
                </a:solidFill>
                <a:ea typeface="+mn-lt"/>
                <a:cs typeface="+mn-lt"/>
              </a:rPr>
              <a:t> 100.000'i </a:t>
            </a:r>
            <a:r>
              <a:rPr lang="en-US" sz="1700" dirty="0" err="1">
                <a:solidFill>
                  <a:srgbClr val="222222"/>
                </a:solidFill>
                <a:ea typeface="+mn-lt"/>
                <a:cs typeface="+mn-lt"/>
              </a:rPr>
              <a:t>aşkın</a:t>
            </a:r>
            <a:r>
              <a:rPr lang="en-US" sz="1700" dirty="0">
                <a:solidFill>
                  <a:srgbClr val="222222"/>
                </a:solidFill>
                <a:ea typeface="+mn-lt"/>
                <a:cs typeface="+mn-lt"/>
              </a:rPr>
              <a:t> Macar </a:t>
            </a:r>
            <a:r>
              <a:rPr lang="en-US" sz="1700" dirty="0" err="1">
                <a:solidFill>
                  <a:srgbClr val="222222"/>
                </a:solidFill>
                <a:ea typeface="+mn-lt"/>
                <a:cs typeface="+mn-lt"/>
              </a:rPr>
              <a:t>askeri</a:t>
            </a:r>
            <a:r>
              <a:rPr lang="en-US" sz="1700" dirty="0">
                <a:solidFill>
                  <a:srgbClr val="222222"/>
                </a:solidFill>
                <a:ea typeface="+mn-lt"/>
                <a:cs typeface="+mn-lt"/>
              </a:rPr>
              <a:t> </a:t>
            </a:r>
            <a:r>
              <a:rPr lang="en-US" sz="1700" dirty="0" err="1">
                <a:solidFill>
                  <a:srgbClr val="222222"/>
                </a:solidFill>
                <a:ea typeface="+mn-lt"/>
                <a:cs typeface="+mn-lt"/>
              </a:rPr>
              <a:t>etkisiz</a:t>
            </a:r>
            <a:r>
              <a:rPr lang="en-US" sz="1700" dirty="0">
                <a:solidFill>
                  <a:srgbClr val="222222"/>
                </a:solidFill>
                <a:ea typeface="+mn-lt"/>
                <a:cs typeface="+mn-lt"/>
              </a:rPr>
              <a:t> hale </a:t>
            </a:r>
            <a:r>
              <a:rPr lang="en-US" sz="1700" dirty="0" err="1">
                <a:solidFill>
                  <a:srgbClr val="222222"/>
                </a:solidFill>
                <a:ea typeface="+mn-lt"/>
                <a:cs typeface="+mn-lt"/>
              </a:rPr>
              <a:t>getirildi</a:t>
            </a:r>
            <a:r>
              <a:rPr lang="en-US" sz="1700" dirty="0">
                <a:solidFill>
                  <a:srgbClr val="222222"/>
                </a:solidFill>
                <a:ea typeface="+mn-lt"/>
                <a:cs typeface="+mn-lt"/>
              </a:rPr>
              <a:t>. </a:t>
            </a:r>
            <a:endParaRPr lang="en-US" sz="1700" dirty="0">
              <a:ea typeface="+mn-lt"/>
              <a:cs typeface="+mn-lt"/>
            </a:endParaRPr>
          </a:p>
        </p:txBody>
      </p:sp>
    </p:spTree>
    <p:extLst>
      <p:ext uri="{BB962C8B-B14F-4D97-AF65-F5344CB8AC3E}">
        <p14:creationId xmlns:p14="http://schemas.microsoft.com/office/powerpoint/2010/main" val="3108114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8F6BCF-2F51-0D37-C222-D79B12EBB772}"/>
              </a:ext>
            </a:extLst>
          </p:cNvPr>
          <p:cNvSpPr>
            <a:spLocks noGrp="1"/>
          </p:cNvSpPr>
          <p:nvPr>
            <p:ph type="title"/>
          </p:nvPr>
        </p:nvSpPr>
        <p:spPr/>
        <p:txBody>
          <a:bodyPr/>
          <a:lstStyle/>
          <a:p>
            <a:r>
              <a:rPr lang="tr-TR" dirty="0"/>
              <a:t>Mohaç Meydan Savaşı Sonuçları</a:t>
            </a:r>
          </a:p>
        </p:txBody>
      </p:sp>
      <p:graphicFrame>
        <p:nvGraphicFramePr>
          <p:cNvPr id="6" name="İçerik Yer Tutucusu 2">
            <a:extLst>
              <a:ext uri="{FF2B5EF4-FFF2-40B4-BE49-F238E27FC236}">
                <a16:creationId xmlns:a16="http://schemas.microsoft.com/office/drawing/2014/main" id="{E560A8A2-3770-2210-0FDC-5231BCD147C7}"/>
              </a:ext>
            </a:extLst>
          </p:cNvPr>
          <p:cNvGraphicFramePr>
            <a:graphicFrameLocks noGrp="1"/>
          </p:cNvGraphicFramePr>
          <p:nvPr>
            <p:ph idx="1"/>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7694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B63E9-B061-1533-39DF-8333E8AAD47A}"/>
              </a:ext>
            </a:extLst>
          </p:cNvPr>
          <p:cNvSpPr>
            <a:spLocks noGrp="1"/>
          </p:cNvSpPr>
          <p:nvPr>
            <p:ph type="title"/>
          </p:nvPr>
        </p:nvSpPr>
        <p:spPr/>
        <p:txBody>
          <a:bodyPr/>
          <a:lstStyle/>
          <a:p>
            <a:r>
              <a:rPr lang="tr-TR" dirty="0"/>
              <a:t>Osmanlı-Avusturya İlişkileri</a:t>
            </a:r>
          </a:p>
        </p:txBody>
      </p:sp>
      <p:sp>
        <p:nvSpPr>
          <p:cNvPr id="3" name="İçerik Yer Tutucusu 2">
            <a:extLst>
              <a:ext uri="{FF2B5EF4-FFF2-40B4-BE49-F238E27FC236}">
                <a16:creationId xmlns:a16="http://schemas.microsoft.com/office/drawing/2014/main" id="{A04A4D48-C603-9E38-C25B-1DE504175BC5}"/>
              </a:ext>
            </a:extLst>
          </p:cNvPr>
          <p:cNvSpPr>
            <a:spLocks noGrp="1"/>
          </p:cNvSpPr>
          <p:nvPr>
            <p:ph idx="1"/>
          </p:nvPr>
        </p:nvSpPr>
        <p:spPr/>
        <p:txBody>
          <a:bodyPr vert="horz" lIns="91440" tIns="45720" rIns="91440" bIns="45720" rtlCol="0" anchor="t">
            <a:normAutofit/>
          </a:bodyPr>
          <a:lstStyle/>
          <a:p>
            <a:pPr marL="0" indent="0" algn="just">
              <a:buNone/>
            </a:pPr>
            <a:r>
              <a:rPr lang="tr-TR" sz="2000" dirty="0">
                <a:solidFill>
                  <a:srgbClr val="222222"/>
                </a:solidFill>
                <a:ea typeface="+mn-lt"/>
                <a:cs typeface="+mn-lt"/>
              </a:rPr>
              <a:t>Avusturya kralı Ferdinand, </a:t>
            </a:r>
            <a:r>
              <a:rPr lang="tr-TR" sz="2000" dirty="0" err="1">
                <a:solidFill>
                  <a:srgbClr val="222222"/>
                </a:solidFill>
                <a:ea typeface="+mn-lt"/>
                <a:cs typeface="+mn-lt"/>
              </a:rPr>
              <a:t>Yanoş'un</a:t>
            </a:r>
            <a:r>
              <a:rPr lang="tr-TR" sz="2000" dirty="0">
                <a:solidFill>
                  <a:srgbClr val="222222"/>
                </a:solidFill>
                <a:ea typeface="+mn-lt"/>
                <a:cs typeface="+mn-lt"/>
              </a:rPr>
              <a:t> krallığını tanımayarak, Macaristan üzerinde hak iddia ediyordu. Avusturya'nın </a:t>
            </a:r>
            <a:r>
              <a:rPr lang="tr-TR" sz="2000" dirty="0" err="1">
                <a:solidFill>
                  <a:srgbClr val="222222"/>
                </a:solidFill>
                <a:ea typeface="+mn-lt"/>
                <a:cs typeface="+mn-lt"/>
              </a:rPr>
              <a:t>Budin'i</a:t>
            </a:r>
            <a:r>
              <a:rPr lang="tr-TR" sz="2000" dirty="0">
                <a:solidFill>
                  <a:srgbClr val="222222"/>
                </a:solidFill>
                <a:ea typeface="+mn-lt"/>
                <a:cs typeface="+mn-lt"/>
              </a:rPr>
              <a:t> ele geçirmesi üzerine sefere çıkıldı. Kanuni, </a:t>
            </a:r>
            <a:r>
              <a:rPr lang="tr-TR" sz="2000" dirty="0" err="1">
                <a:solidFill>
                  <a:srgbClr val="222222"/>
                </a:solidFill>
                <a:ea typeface="+mn-lt"/>
                <a:cs typeface="+mn-lt"/>
              </a:rPr>
              <a:t>Budin'i</a:t>
            </a:r>
            <a:r>
              <a:rPr lang="tr-TR" sz="2000" dirty="0">
                <a:solidFill>
                  <a:srgbClr val="222222"/>
                </a:solidFill>
                <a:ea typeface="+mn-lt"/>
                <a:cs typeface="+mn-lt"/>
              </a:rPr>
              <a:t> geri aldı.</a:t>
            </a:r>
            <a:endParaRPr lang="tr-TR" sz="2000"/>
          </a:p>
          <a:p>
            <a:endParaRPr lang="tr-TR" dirty="0"/>
          </a:p>
        </p:txBody>
      </p:sp>
    </p:spTree>
    <p:extLst>
      <p:ext uri="{BB962C8B-B14F-4D97-AF65-F5344CB8AC3E}">
        <p14:creationId xmlns:p14="http://schemas.microsoft.com/office/powerpoint/2010/main" val="2393561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Resim 4" descr="metin, doğa içeren bir resim&#10;&#10;Açıklama otomatik olarak oluşturuldu">
            <a:extLst>
              <a:ext uri="{FF2B5EF4-FFF2-40B4-BE49-F238E27FC236}">
                <a16:creationId xmlns:a16="http://schemas.microsoft.com/office/drawing/2014/main" id="{0512DAF9-A9B6-96CC-F77D-F994690BE5A5}"/>
              </a:ext>
            </a:extLst>
          </p:cNvPr>
          <p:cNvPicPr>
            <a:picLocks noChangeAspect="1"/>
          </p:cNvPicPr>
          <p:nvPr/>
        </p:nvPicPr>
        <p:blipFill rotWithShape="1">
          <a:blip r:embed="rId2"/>
          <a:srcRect l="16420" r="12480"/>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10EA7959-1E55-CFA9-F2EE-E8AD11FD5A47}"/>
              </a:ext>
            </a:extLst>
          </p:cNvPr>
          <p:cNvSpPr>
            <a:spLocks noGrp="1"/>
          </p:cNvSpPr>
          <p:nvPr>
            <p:ph type="title"/>
          </p:nvPr>
        </p:nvSpPr>
        <p:spPr>
          <a:xfrm>
            <a:off x="371094" y="1161288"/>
            <a:ext cx="3438144" cy="1124712"/>
          </a:xfrm>
        </p:spPr>
        <p:txBody>
          <a:bodyPr anchor="b">
            <a:noAutofit/>
          </a:bodyPr>
          <a:lstStyle/>
          <a:p>
            <a:pPr marL="514350" indent="-514350">
              <a:buAutoNum type="romanUcPeriod"/>
            </a:pPr>
            <a:r>
              <a:rPr lang="tr-TR" sz="2000" dirty="0">
                <a:solidFill>
                  <a:srgbClr val="222222"/>
                </a:solidFill>
                <a:ea typeface="+mj-lt"/>
                <a:cs typeface="+mj-lt"/>
              </a:rPr>
              <a:t>Viyana Kuşatması (1529)</a:t>
            </a:r>
            <a:endParaRPr lang="tr-TR" sz="2000" dirty="0"/>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46F578FC-9C86-ED47-7900-7FAFF72C6575}"/>
              </a:ext>
            </a:extLst>
          </p:cNvPr>
          <p:cNvSpPr>
            <a:spLocks noGrp="1"/>
          </p:cNvSpPr>
          <p:nvPr>
            <p:ph idx="1"/>
          </p:nvPr>
        </p:nvSpPr>
        <p:spPr>
          <a:xfrm>
            <a:off x="499883" y="2707322"/>
            <a:ext cx="3438906" cy="3207258"/>
          </a:xfrm>
        </p:spPr>
        <p:txBody>
          <a:bodyPr vert="horz" lIns="91440" tIns="45720" rIns="91440" bIns="45720" rtlCol="0" anchor="t">
            <a:noAutofit/>
          </a:bodyPr>
          <a:lstStyle/>
          <a:p>
            <a:pPr marL="0" indent="0" algn="just">
              <a:buNone/>
            </a:pPr>
            <a:r>
              <a:rPr lang="en-US" sz="1800" dirty="0">
                <a:solidFill>
                  <a:srgbClr val="222222"/>
                </a:solidFill>
              </a:rPr>
              <a:t>Viyana </a:t>
            </a:r>
            <a:r>
              <a:rPr lang="en-US" sz="1800" err="1">
                <a:solidFill>
                  <a:srgbClr val="222222"/>
                </a:solidFill>
              </a:rPr>
              <a:t>kuşatıldı</a:t>
            </a:r>
            <a:r>
              <a:rPr lang="en-US" sz="1800" dirty="0">
                <a:solidFill>
                  <a:srgbClr val="222222"/>
                </a:solidFill>
              </a:rPr>
              <a:t>.</a:t>
            </a:r>
          </a:p>
          <a:p>
            <a:pPr marL="0" indent="0" algn="just">
              <a:buNone/>
            </a:pPr>
            <a:r>
              <a:rPr lang="en-US" sz="1800" err="1">
                <a:solidFill>
                  <a:srgbClr val="222222"/>
                </a:solidFill>
                <a:ea typeface="+mn-lt"/>
                <a:cs typeface="+mn-lt"/>
              </a:rPr>
              <a:t>Avusturyalılar</a:t>
            </a:r>
            <a:r>
              <a:rPr lang="en-US" sz="1800" dirty="0">
                <a:solidFill>
                  <a:srgbClr val="222222"/>
                </a:solidFill>
                <a:ea typeface="+mn-lt"/>
                <a:cs typeface="+mn-lt"/>
              </a:rPr>
              <a:t>, </a:t>
            </a:r>
            <a:r>
              <a:rPr lang="en-US" sz="1800" err="1">
                <a:solidFill>
                  <a:srgbClr val="222222"/>
                </a:solidFill>
                <a:ea typeface="+mn-lt"/>
                <a:cs typeface="+mn-lt"/>
              </a:rPr>
              <a:t>Osmanlıların</a:t>
            </a:r>
            <a:r>
              <a:rPr lang="en-US" sz="1800" dirty="0">
                <a:solidFill>
                  <a:srgbClr val="222222"/>
                </a:solidFill>
                <a:ea typeface="+mn-lt"/>
                <a:cs typeface="+mn-lt"/>
              </a:rPr>
              <a:t> </a:t>
            </a:r>
            <a:r>
              <a:rPr lang="en-US" sz="1800" err="1">
                <a:solidFill>
                  <a:srgbClr val="222222"/>
                </a:solidFill>
                <a:ea typeface="+mn-lt"/>
                <a:cs typeface="+mn-lt"/>
              </a:rPr>
              <a:t>karşısına</a:t>
            </a:r>
            <a:r>
              <a:rPr lang="en-US" sz="1800" dirty="0">
                <a:solidFill>
                  <a:srgbClr val="222222"/>
                </a:solidFill>
                <a:ea typeface="+mn-lt"/>
                <a:cs typeface="+mn-lt"/>
              </a:rPr>
              <a:t> </a:t>
            </a:r>
            <a:r>
              <a:rPr lang="en-US" sz="1800" err="1">
                <a:solidFill>
                  <a:srgbClr val="222222"/>
                </a:solidFill>
                <a:ea typeface="+mn-lt"/>
                <a:cs typeface="+mn-lt"/>
              </a:rPr>
              <a:t>çıkmaya</a:t>
            </a:r>
            <a:r>
              <a:rPr lang="en-US" sz="1800" dirty="0">
                <a:solidFill>
                  <a:srgbClr val="222222"/>
                </a:solidFill>
                <a:ea typeface="+mn-lt"/>
                <a:cs typeface="+mn-lt"/>
              </a:rPr>
              <a:t> </a:t>
            </a:r>
            <a:r>
              <a:rPr lang="en-US" sz="1800" err="1">
                <a:solidFill>
                  <a:srgbClr val="222222"/>
                </a:solidFill>
                <a:ea typeface="+mn-lt"/>
                <a:cs typeface="+mn-lt"/>
              </a:rPr>
              <a:t>cesaret</a:t>
            </a:r>
            <a:r>
              <a:rPr lang="en-US" sz="1800" dirty="0">
                <a:solidFill>
                  <a:srgbClr val="222222"/>
                </a:solidFill>
                <a:ea typeface="+mn-lt"/>
                <a:cs typeface="+mn-lt"/>
              </a:rPr>
              <a:t> </a:t>
            </a:r>
            <a:r>
              <a:rPr lang="en-US" sz="1800" err="1">
                <a:solidFill>
                  <a:srgbClr val="222222"/>
                </a:solidFill>
                <a:ea typeface="+mn-lt"/>
                <a:cs typeface="+mn-lt"/>
              </a:rPr>
              <a:t>edemediler</a:t>
            </a:r>
            <a:r>
              <a:rPr lang="en-US" sz="1800" dirty="0">
                <a:solidFill>
                  <a:srgbClr val="222222"/>
                </a:solidFill>
                <a:ea typeface="+mn-lt"/>
                <a:cs typeface="+mn-lt"/>
              </a:rPr>
              <a:t>.</a:t>
            </a:r>
            <a:endParaRPr lang="en-US" sz="1800">
              <a:solidFill>
                <a:srgbClr val="000000"/>
              </a:solidFill>
              <a:ea typeface="+mn-lt"/>
              <a:cs typeface="+mn-lt"/>
            </a:endParaRPr>
          </a:p>
          <a:p>
            <a:pPr marL="0" indent="0" algn="just">
              <a:buNone/>
            </a:pPr>
            <a:r>
              <a:rPr lang="en-US" sz="1800" err="1">
                <a:solidFill>
                  <a:srgbClr val="222222"/>
                </a:solidFill>
                <a:ea typeface="+mn-lt"/>
                <a:cs typeface="+mn-lt"/>
              </a:rPr>
              <a:t>Kanuni</a:t>
            </a:r>
            <a:r>
              <a:rPr lang="en-US" sz="1800" dirty="0">
                <a:solidFill>
                  <a:srgbClr val="222222"/>
                </a:solidFill>
                <a:ea typeface="+mn-lt"/>
                <a:cs typeface="+mn-lt"/>
              </a:rPr>
              <a:t>, </a:t>
            </a:r>
            <a:r>
              <a:rPr lang="en-US" sz="1800" err="1">
                <a:solidFill>
                  <a:srgbClr val="222222"/>
                </a:solidFill>
                <a:ea typeface="+mn-lt"/>
                <a:cs typeface="+mn-lt"/>
              </a:rPr>
              <a:t>kış</a:t>
            </a:r>
            <a:r>
              <a:rPr lang="en-US" sz="1800" dirty="0">
                <a:solidFill>
                  <a:srgbClr val="222222"/>
                </a:solidFill>
                <a:ea typeface="+mn-lt"/>
                <a:cs typeface="+mn-lt"/>
              </a:rPr>
              <a:t> </a:t>
            </a:r>
            <a:r>
              <a:rPr lang="en-US" sz="1800" err="1">
                <a:solidFill>
                  <a:srgbClr val="222222"/>
                </a:solidFill>
                <a:ea typeface="+mn-lt"/>
                <a:cs typeface="+mn-lt"/>
              </a:rPr>
              <a:t>mevsiminin</a:t>
            </a:r>
            <a:r>
              <a:rPr lang="en-US" sz="1800" dirty="0">
                <a:solidFill>
                  <a:srgbClr val="222222"/>
                </a:solidFill>
                <a:ea typeface="+mn-lt"/>
                <a:cs typeface="+mn-lt"/>
              </a:rPr>
              <a:t> </a:t>
            </a:r>
            <a:r>
              <a:rPr lang="en-US" sz="1800" err="1">
                <a:solidFill>
                  <a:srgbClr val="222222"/>
                </a:solidFill>
                <a:ea typeface="+mn-lt"/>
                <a:cs typeface="+mn-lt"/>
              </a:rPr>
              <a:t>yaklaşması</a:t>
            </a:r>
            <a:r>
              <a:rPr lang="en-US" sz="1800" dirty="0">
                <a:solidFill>
                  <a:srgbClr val="222222"/>
                </a:solidFill>
                <a:ea typeface="+mn-lt"/>
                <a:cs typeface="+mn-lt"/>
              </a:rPr>
              <a:t> </a:t>
            </a:r>
            <a:r>
              <a:rPr lang="en-US" sz="1800" err="1">
                <a:solidFill>
                  <a:srgbClr val="222222"/>
                </a:solidFill>
                <a:ea typeface="+mn-lt"/>
                <a:cs typeface="+mn-lt"/>
              </a:rPr>
              <a:t>ve</a:t>
            </a:r>
            <a:r>
              <a:rPr lang="en-US" sz="1800" dirty="0">
                <a:solidFill>
                  <a:srgbClr val="222222"/>
                </a:solidFill>
                <a:ea typeface="+mn-lt"/>
                <a:cs typeface="+mn-lt"/>
              </a:rPr>
              <a:t> </a:t>
            </a:r>
            <a:r>
              <a:rPr lang="en-US" sz="1800" err="1">
                <a:solidFill>
                  <a:srgbClr val="222222"/>
                </a:solidFill>
                <a:ea typeface="+mn-lt"/>
                <a:cs typeface="+mn-lt"/>
              </a:rPr>
              <a:t>ağır</a:t>
            </a:r>
            <a:r>
              <a:rPr lang="en-US" sz="1800" dirty="0">
                <a:solidFill>
                  <a:srgbClr val="222222"/>
                </a:solidFill>
                <a:ea typeface="+mn-lt"/>
                <a:cs typeface="+mn-lt"/>
              </a:rPr>
              <a:t> </a:t>
            </a:r>
            <a:r>
              <a:rPr lang="en-US" sz="1800" err="1">
                <a:solidFill>
                  <a:srgbClr val="222222"/>
                </a:solidFill>
                <a:ea typeface="+mn-lt"/>
                <a:cs typeface="+mn-lt"/>
              </a:rPr>
              <a:t>topların</a:t>
            </a:r>
            <a:r>
              <a:rPr lang="en-US" sz="1800" dirty="0">
                <a:solidFill>
                  <a:srgbClr val="222222"/>
                </a:solidFill>
                <a:ea typeface="+mn-lt"/>
                <a:cs typeface="+mn-lt"/>
              </a:rPr>
              <a:t> </a:t>
            </a:r>
            <a:r>
              <a:rPr lang="en-US" sz="1800" err="1">
                <a:solidFill>
                  <a:srgbClr val="222222"/>
                </a:solidFill>
                <a:ea typeface="+mn-lt"/>
                <a:cs typeface="+mn-lt"/>
              </a:rPr>
              <a:t>götürülmemesi</a:t>
            </a:r>
            <a:r>
              <a:rPr lang="en-US" sz="1800" dirty="0">
                <a:solidFill>
                  <a:srgbClr val="222222"/>
                </a:solidFill>
                <a:ea typeface="+mn-lt"/>
                <a:cs typeface="+mn-lt"/>
              </a:rPr>
              <a:t> </a:t>
            </a:r>
            <a:r>
              <a:rPr lang="en-US" sz="1800" err="1">
                <a:solidFill>
                  <a:srgbClr val="222222"/>
                </a:solidFill>
                <a:ea typeface="+mn-lt"/>
                <a:cs typeface="+mn-lt"/>
              </a:rPr>
              <a:t>üzerine</a:t>
            </a:r>
            <a:r>
              <a:rPr lang="en-US" sz="1800" dirty="0">
                <a:solidFill>
                  <a:srgbClr val="222222"/>
                </a:solidFill>
                <a:ea typeface="+mn-lt"/>
                <a:cs typeface="+mn-lt"/>
              </a:rPr>
              <a:t> </a:t>
            </a:r>
            <a:r>
              <a:rPr lang="en-US" sz="1800" err="1">
                <a:solidFill>
                  <a:srgbClr val="222222"/>
                </a:solidFill>
                <a:ea typeface="+mn-lt"/>
                <a:cs typeface="+mn-lt"/>
              </a:rPr>
              <a:t>kuşatmayı</a:t>
            </a:r>
            <a:r>
              <a:rPr lang="en-US" sz="1800" dirty="0">
                <a:solidFill>
                  <a:srgbClr val="222222"/>
                </a:solidFill>
                <a:ea typeface="+mn-lt"/>
                <a:cs typeface="+mn-lt"/>
              </a:rPr>
              <a:t> </a:t>
            </a:r>
            <a:r>
              <a:rPr lang="en-US" sz="1800" err="1">
                <a:solidFill>
                  <a:srgbClr val="222222"/>
                </a:solidFill>
                <a:ea typeface="+mn-lt"/>
                <a:cs typeface="+mn-lt"/>
              </a:rPr>
              <a:t>kaldırdı</a:t>
            </a:r>
            <a:r>
              <a:rPr lang="en-US" sz="1800" dirty="0">
                <a:solidFill>
                  <a:srgbClr val="222222"/>
                </a:solidFill>
                <a:ea typeface="+mn-lt"/>
                <a:cs typeface="+mn-lt"/>
              </a:rPr>
              <a:t>.</a:t>
            </a:r>
            <a:endParaRPr lang="en-US" sz="1800"/>
          </a:p>
          <a:p>
            <a:endParaRPr lang="en-US" sz="1700" dirty="0"/>
          </a:p>
        </p:txBody>
      </p:sp>
    </p:spTree>
    <p:extLst>
      <p:ext uri="{BB962C8B-B14F-4D97-AF65-F5344CB8AC3E}">
        <p14:creationId xmlns:p14="http://schemas.microsoft.com/office/powerpoint/2010/main" val="3504613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AF2CD8-7BE3-2B91-14D7-C8017564C7A8}"/>
              </a:ext>
            </a:extLst>
          </p:cNvPr>
          <p:cNvSpPr>
            <a:spLocks noGrp="1"/>
          </p:cNvSpPr>
          <p:nvPr>
            <p:ph type="title"/>
          </p:nvPr>
        </p:nvSpPr>
        <p:spPr/>
        <p:txBody>
          <a:bodyPr>
            <a:noAutofit/>
          </a:bodyPr>
          <a:lstStyle/>
          <a:p>
            <a:r>
              <a:rPr lang="tr-TR" dirty="0">
                <a:solidFill>
                  <a:srgbClr val="222222"/>
                </a:solidFill>
                <a:ea typeface="+mj-lt"/>
                <a:cs typeface="+mj-lt"/>
              </a:rPr>
              <a:t>Almanya Seferi (1532)</a:t>
            </a:r>
            <a:endParaRPr lang="tr-TR" dirty="0"/>
          </a:p>
        </p:txBody>
      </p:sp>
      <p:sp>
        <p:nvSpPr>
          <p:cNvPr id="3" name="İçerik Yer Tutucusu 2">
            <a:extLst>
              <a:ext uri="{FF2B5EF4-FFF2-40B4-BE49-F238E27FC236}">
                <a16:creationId xmlns:a16="http://schemas.microsoft.com/office/drawing/2014/main" id="{542C00EC-FA4D-0238-EB84-72A45814843E}"/>
              </a:ext>
            </a:extLst>
          </p:cNvPr>
          <p:cNvSpPr>
            <a:spLocks noGrp="1"/>
          </p:cNvSpPr>
          <p:nvPr>
            <p:ph idx="1"/>
          </p:nvPr>
        </p:nvSpPr>
        <p:spPr/>
        <p:txBody>
          <a:bodyPr vert="horz" lIns="91440" tIns="45720" rIns="91440" bIns="45720" rtlCol="0" anchor="t">
            <a:normAutofit/>
          </a:bodyPr>
          <a:lstStyle/>
          <a:p>
            <a:pPr marL="0" indent="0">
              <a:buNone/>
            </a:pPr>
            <a:r>
              <a:rPr lang="tr-TR" dirty="0">
                <a:solidFill>
                  <a:srgbClr val="222222"/>
                </a:solidFill>
                <a:ea typeface="+mn-lt"/>
                <a:cs typeface="+mn-lt"/>
              </a:rPr>
              <a:t>Avusturya kralı </a:t>
            </a:r>
            <a:r>
              <a:rPr lang="tr-TR" dirty="0" err="1">
                <a:solidFill>
                  <a:srgbClr val="222222"/>
                </a:solidFill>
                <a:ea typeface="+mn-lt"/>
                <a:cs typeface="+mn-lt"/>
              </a:rPr>
              <a:t>Ferdinandın</a:t>
            </a:r>
            <a:r>
              <a:rPr lang="tr-TR" dirty="0">
                <a:solidFill>
                  <a:srgbClr val="222222"/>
                </a:solidFill>
                <a:ea typeface="+mn-lt"/>
                <a:cs typeface="+mn-lt"/>
              </a:rPr>
              <a:t> </a:t>
            </a:r>
            <a:r>
              <a:rPr lang="tr-TR" dirty="0" err="1">
                <a:solidFill>
                  <a:srgbClr val="222222"/>
                </a:solidFill>
                <a:ea typeface="+mn-lt"/>
                <a:cs typeface="+mn-lt"/>
              </a:rPr>
              <a:t>Budin'i</a:t>
            </a:r>
            <a:r>
              <a:rPr lang="tr-TR" dirty="0">
                <a:solidFill>
                  <a:srgbClr val="222222"/>
                </a:solidFill>
                <a:ea typeface="+mn-lt"/>
                <a:cs typeface="+mn-lt"/>
              </a:rPr>
              <a:t> tekrar kuşatması üzerine Almanya seferine çıkıldı. Avusturya kralı Ferdinand ve ağabeyi Roma-Germen imparatoru Şarlken, Osmanlı ordusunun karşısına çıkmaya cesaret edemediler.</a:t>
            </a:r>
            <a:endParaRPr lang="tr-TR" dirty="0"/>
          </a:p>
        </p:txBody>
      </p:sp>
    </p:spTree>
    <p:extLst>
      <p:ext uri="{BB962C8B-B14F-4D97-AF65-F5344CB8AC3E}">
        <p14:creationId xmlns:p14="http://schemas.microsoft.com/office/powerpoint/2010/main" val="1298235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FCC78A-349A-8340-ADB6-E736F9C19973}"/>
              </a:ext>
            </a:extLst>
          </p:cNvPr>
          <p:cNvSpPr>
            <a:spLocks noGrp="1"/>
          </p:cNvSpPr>
          <p:nvPr>
            <p:ph type="title"/>
          </p:nvPr>
        </p:nvSpPr>
        <p:spPr/>
        <p:txBody>
          <a:bodyPr>
            <a:normAutofit/>
          </a:bodyPr>
          <a:lstStyle/>
          <a:p>
            <a:r>
              <a:rPr lang="tr-TR" dirty="0">
                <a:solidFill>
                  <a:srgbClr val="222222"/>
                </a:solidFill>
                <a:ea typeface="+mj-lt"/>
                <a:cs typeface="+mj-lt"/>
              </a:rPr>
              <a:t> Avusturya-İstanbul Antlaşması (1533)</a:t>
            </a:r>
            <a:endParaRPr lang="tr-TR" dirty="0"/>
          </a:p>
        </p:txBody>
      </p:sp>
      <p:sp>
        <p:nvSpPr>
          <p:cNvPr id="3" name="İçerik Yer Tutucusu 2">
            <a:extLst>
              <a:ext uri="{FF2B5EF4-FFF2-40B4-BE49-F238E27FC236}">
                <a16:creationId xmlns:a16="http://schemas.microsoft.com/office/drawing/2014/main" id="{A2A4F588-C57F-4A23-ECCA-1582063437EC}"/>
              </a:ext>
            </a:extLst>
          </p:cNvPr>
          <p:cNvSpPr>
            <a:spLocks noGrp="1"/>
          </p:cNvSpPr>
          <p:nvPr>
            <p:ph idx="1"/>
          </p:nvPr>
        </p:nvSpPr>
        <p:spPr/>
        <p:txBody>
          <a:bodyPr vert="horz" lIns="91440" tIns="45720" rIns="91440" bIns="45720" rtlCol="0" anchor="t">
            <a:normAutofit/>
          </a:bodyPr>
          <a:lstStyle/>
          <a:p>
            <a:pPr marL="0" indent="0">
              <a:buNone/>
            </a:pPr>
            <a:r>
              <a:rPr lang="tr-TR" dirty="0">
                <a:solidFill>
                  <a:srgbClr val="000000"/>
                </a:solidFill>
                <a:ea typeface="+mn-lt"/>
                <a:cs typeface="+mn-lt"/>
              </a:rPr>
              <a:t>Macaristan için yapılan savaşlar hep başarısızlıkla sonuçlanınca Şarlken kardeşi Ferdinand`a Osmanlılar ile anlaşmasını tavsiye etti. O sırada Osmanlıların İran`daki Safevilerle ilişkileri bozulmuştu. Kanuni İran seferine çıkmak istiyordu. Macaristan seferleri Osmanlılara pahalıya mal olduğu için Avusturya ile anlaşmaya karar verdiler.</a:t>
            </a:r>
            <a:endParaRPr lang="tr-TR" dirty="0">
              <a:solidFill>
                <a:srgbClr val="000000"/>
              </a:solidFill>
            </a:endParaRPr>
          </a:p>
        </p:txBody>
      </p:sp>
    </p:spTree>
    <p:extLst>
      <p:ext uri="{BB962C8B-B14F-4D97-AF65-F5344CB8AC3E}">
        <p14:creationId xmlns:p14="http://schemas.microsoft.com/office/powerpoint/2010/main" val="1458094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1B3EC0-C865-4E52-A0F6-CB02B29A4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7672EAD-4BE7-D52F-8996-989692E7D812}"/>
              </a:ext>
            </a:extLst>
          </p:cNvPr>
          <p:cNvSpPr>
            <a:spLocks noGrp="1"/>
          </p:cNvSpPr>
          <p:nvPr>
            <p:ph type="title"/>
          </p:nvPr>
        </p:nvSpPr>
        <p:spPr>
          <a:xfrm>
            <a:off x="841248" y="941832"/>
            <a:ext cx="10506456" cy="1901952"/>
          </a:xfrm>
        </p:spPr>
        <p:txBody>
          <a:bodyPr anchor="b">
            <a:normAutofit/>
          </a:bodyPr>
          <a:lstStyle/>
          <a:p>
            <a:r>
              <a:rPr lang="tr-TR" sz="5400"/>
              <a:t>İstanbul Antlaşması Sonuçları</a:t>
            </a:r>
          </a:p>
        </p:txBody>
      </p:sp>
      <p:sp>
        <p:nvSpPr>
          <p:cNvPr id="10" name="Rectangle 9">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146509"/>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B6AE2538-DB2C-07F2-5C1E-022852203716}"/>
              </a:ext>
            </a:extLst>
          </p:cNvPr>
          <p:cNvSpPr>
            <a:spLocks noGrp="1"/>
          </p:cNvSpPr>
          <p:nvPr>
            <p:ph idx="1"/>
          </p:nvPr>
        </p:nvSpPr>
        <p:spPr>
          <a:xfrm>
            <a:off x="841248" y="3668690"/>
            <a:ext cx="10509504" cy="2503510"/>
          </a:xfrm>
        </p:spPr>
        <p:txBody>
          <a:bodyPr vert="horz" lIns="91440" tIns="45720" rIns="91440" bIns="45720" rtlCol="0">
            <a:normAutofit/>
          </a:bodyPr>
          <a:lstStyle/>
          <a:p>
            <a:pPr marL="0" indent="0">
              <a:buNone/>
            </a:pPr>
            <a:r>
              <a:rPr lang="tr-TR" sz="2000"/>
              <a:t>1- Avusturya arşidüğü protokol bakımından Osmanlı sadrazamına denk olacaktı.</a:t>
            </a:r>
          </a:p>
          <a:p>
            <a:pPr marL="0" indent="0">
              <a:buNone/>
            </a:pPr>
            <a:r>
              <a:rPr lang="tr-TR" sz="2000"/>
              <a:t>2 - Ferdinand, Zapolya`nın Macar kralı olmasını kabul etti.</a:t>
            </a:r>
          </a:p>
          <a:p>
            <a:pPr marL="0" indent="0">
              <a:buNone/>
            </a:pPr>
            <a:r>
              <a:rPr lang="tr-TR" sz="2000"/>
              <a:t>3 - Ferdinand, Osmanlılara yılda 30.000 duka altın vermeyi kabul etti.</a:t>
            </a:r>
          </a:p>
          <a:p>
            <a:pPr marL="0" indent="0">
              <a:buNone/>
            </a:pPr>
            <a:r>
              <a:rPr lang="tr-TR" sz="2000"/>
              <a:t>4 - Macaristan ikiye ayrıldı. Birinci kısım Osmanlı Devleti`nin korumasında Zapolya`ya, ikinci kısmı vergi vermek şartı ile Ferdinand`a bırakıldı.</a:t>
            </a:r>
          </a:p>
          <a:p>
            <a:pPr marL="0" indent="0">
              <a:buNone/>
            </a:pPr>
            <a:endParaRPr lang="tr-TR" sz="2000"/>
          </a:p>
        </p:txBody>
      </p:sp>
    </p:spTree>
    <p:extLst>
      <p:ext uri="{BB962C8B-B14F-4D97-AF65-F5344CB8AC3E}">
        <p14:creationId xmlns:p14="http://schemas.microsoft.com/office/powerpoint/2010/main" val="359820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58A8A4-43D4-9BFD-8753-A6A842BA4D6D}"/>
              </a:ext>
            </a:extLst>
          </p:cNvPr>
          <p:cNvSpPr>
            <a:spLocks noGrp="1"/>
          </p:cNvSpPr>
          <p:nvPr>
            <p:ph type="title"/>
          </p:nvPr>
        </p:nvSpPr>
        <p:spPr/>
        <p:txBody>
          <a:bodyPr/>
          <a:lstStyle/>
          <a:p>
            <a:r>
              <a:rPr lang="tr-TR" dirty="0"/>
              <a:t>Osmanlı-İran İlişkileri</a:t>
            </a:r>
          </a:p>
        </p:txBody>
      </p:sp>
      <p:sp>
        <p:nvSpPr>
          <p:cNvPr id="3" name="İçerik Yer Tutucusu 2">
            <a:extLst>
              <a:ext uri="{FF2B5EF4-FFF2-40B4-BE49-F238E27FC236}">
                <a16:creationId xmlns:a16="http://schemas.microsoft.com/office/drawing/2014/main" id="{8EEC93FC-A123-1135-F8DA-BDD19C9C8E14}"/>
              </a:ext>
            </a:extLst>
          </p:cNvPr>
          <p:cNvSpPr>
            <a:spLocks noGrp="1"/>
          </p:cNvSpPr>
          <p:nvPr>
            <p:ph idx="1"/>
          </p:nvPr>
        </p:nvSpPr>
        <p:spPr/>
        <p:txBody>
          <a:bodyPr vert="horz" lIns="91440" tIns="45720" rIns="91440" bIns="45720" rtlCol="0" anchor="t">
            <a:normAutofit/>
          </a:bodyPr>
          <a:lstStyle/>
          <a:p>
            <a:pPr marL="0" indent="0">
              <a:buNone/>
            </a:pPr>
            <a:r>
              <a:rPr lang="tr-TR" dirty="0" err="1">
                <a:solidFill>
                  <a:srgbClr val="222222"/>
                </a:solidFill>
                <a:ea typeface="+mn-lt"/>
                <a:cs typeface="+mn-lt"/>
              </a:rPr>
              <a:t>Safevi</a:t>
            </a:r>
            <a:r>
              <a:rPr lang="tr-TR" dirty="0">
                <a:solidFill>
                  <a:srgbClr val="222222"/>
                </a:solidFill>
                <a:ea typeface="+mn-lt"/>
                <a:cs typeface="+mn-lt"/>
              </a:rPr>
              <a:t> tahtına Şah İsmail'in yerine </a:t>
            </a:r>
            <a:r>
              <a:rPr lang="tr-TR" dirty="0" err="1">
                <a:solidFill>
                  <a:srgbClr val="222222"/>
                </a:solidFill>
                <a:ea typeface="+mn-lt"/>
                <a:cs typeface="+mn-lt"/>
              </a:rPr>
              <a:t>Tahmasb</a:t>
            </a:r>
            <a:r>
              <a:rPr lang="tr-TR" dirty="0">
                <a:solidFill>
                  <a:srgbClr val="222222"/>
                </a:solidFill>
                <a:ea typeface="+mn-lt"/>
                <a:cs typeface="+mn-lt"/>
              </a:rPr>
              <a:t> çıkmıştı.</a:t>
            </a:r>
            <a:endParaRPr lang="tr-TR" dirty="0"/>
          </a:p>
          <a:p>
            <a:pPr marL="0" indent="0">
              <a:buNone/>
            </a:pPr>
            <a:r>
              <a:rPr lang="tr-TR" dirty="0" err="1"/>
              <a:t>Tahmasb'ın</a:t>
            </a:r>
            <a:r>
              <a:rPr lang="tr-TR" dirty="0"/>
              <a:t> Osmanlı topraklarına saldırması,</a:t>
            </a:r>
          </a:p>
          <a:p>
            <a:pPr marL="0" indent="0">
              <a:buNone/>
            </a:pPr>
            <a:r>
              <a:rPr lang="tr-TR" dirty="0"/>
              <a:t>Osmanlı'ya bağlı Bağdat valisini öldürmesi,</a:t>
            </a:r>
          </a:p>
          <a:p>
            <a:pPr marL="0" indent="0">
              <a:buNone/>
            </a:pPr>
            <a:r>
              <a:rPr lang="tr-TR" dirty="0"/>
              <a:t>Avusturya ile ittifak kurması,</a:t>
            </a:r>
          </a:p>
          <a:p>
            <a:pPr marL="0" indent="0">
              <a:buNone/>
            </a:pPr>
            <a:r>
              <a:rPr lang="tr-TR" dirty="0"/>
              <a:t>Osmanlı-İran ilişkilerinin bozulmasına sebep oldu.</a:t>
            </a:r>
          </a:p>
          <a:p>
            <a:pPr marL="0" indent="0">
              <a:buNone/>
            </a:pPr>
            <a:endParaRPr lang="tr-TR" dirty="0"/>
          </a:p>
          <a:p>
            <a:endParaRPr lang="tr-TR" dirty="0"/>
          </a:p>
        </p:txBody>
      </p:sp>
    </p:spTree>
    <p:extLst>
      <p:ext uri="{BB962C8B-B14F-4D97-AF65-F5344CB8AC3E}">
        <p14:creationId xmlns:p14="http://schemas.microsoft.com/office/powerpoint/2010/main" val="1108298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3C7D67-73D9-07DC-2CEC-E8750810D064}"/>
              </a:ext>
            </a:extLst>
          </p:cNvPr>
          <p:cNvSpPr>
            <a:spLocks noGrp="1"/>
          </p:cNvSpPr>
          <p:nvPr>
            <p:ph type="title"/>
          </p:nvPr>
        </p:nvSpPr>
        <p:spPr/>
        <p:txBody>
          <a:bodyPr/>
          <a:lstStyle/>
          <a:p>
            <a:r>
              <a:rPr lang="tr-TR" dirty="0"/>
              <a:t>Doğu'daki gelişmeler</a:t>
            </a:r>
          </a:p>
        </p:txBody>
      </p:sp>
      <p:sp>
        <p:nvSpPr>
          <p:cNvPr id="3" name="İçerik Yer Tutucusu 2">
            <a:extLst>
              <a:ext uri="{FF2B5EF4-FFF2-40B4-BE49-F238E27FC236}">
                <a16:creationId xmlns:a16="http://schemas.microsoft.com/office/drawing/2014/main" id="{1283B75D-F4E3-7DF3-AB38-895B01F901BA}"/>
              </a:ext>
            </a:extLst>
          </p:cNvPr>
          <p:cNvSpPr>
            <a:spLocks noGrp="1"/>
          </p:cNvSpPr>
          <p:nvPr>
            <p:ph idx="1"/>
          </p:nvPr>
        </p:nvSpPr>
        <p:spPr/>
        <p:txBody>
          <a:bodyPr vert="horz" lIns="91440" tIns="45720" rIns="91440" bIns="45720" rtlCol="0" anchor="t">
            <a:normAutofit/>
          </a:bodyPr>
          <a:lstStyle/>
          <a:p>
            <a:pPr marL="0" indent="0">
              <a:buNone/>
            </a:pPr>
            <a:r>
              <a:rPr lang="tr-TR" dirty="0"/>
              <a:t>Kanuni, İran üzerine dört büyük sefer düzenledi. Bağdat, Karabağ, Revan, ve Nahçıvan'ı ele geçirdi. İran, barış istemek zorunda kaldı.</a:t>
            </a:r>
            <a:endParaRPr lang="tr-TR"/>
          </a:p>
          <a:p>
            <a:endParaRPr lang="tr-TR" dirty="0"/>
          </a:p>
        </p:txBody>
      </p:sp>
    </p:spTree>
    <p:extLst>
      <p:ext uri="{BB962C8B-B14F-4D97-AF65-F5344CB8AC3E}">
        <p14:creationId xmlns:p14="http://schemas.microsoft.com/office/powerpoint/2010/main" val="2644401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995B8BB-FA32-61AC-8941-A5E5DFE37650}"/>
              </a:ext>
            </a:extLst>
          </p:cNvPr>
          <p:cNvSpPr>
            <a:spLocks noGrp="1"/>
          </p:cNvSpPr>
          <p:nvPr>
            <p:ph type="title"/>
          </p:nvPr>
        </p:nvSpPr>
        <p:spPr>
          <a:xfrm>
            <a:off x="841248" y="334644"/>
            <a:ext cx="10509504" cy="1076914"/>
          </a:xfrm>
        </p:spPr>
        <p:txBody>
          <a:bodyPr anchor="ctr">
            <a:normAutofit/>
          </a:bodyPr>
          <a:lstStyle/>
          <a:p>
            <a:r>
              <a:rPr lang="tr-TR">
                <a:ea typeface="+mj-lt"/>
                <a:cs typeface="+mj-lt"/>
              </a:rPr>
              <a:t>Amasya Antlaşması (1555)</a:t>
            </a:r>
            <a:endParaRPr lang="tr-TR"/>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5" name="İçerik Yer Tutucusu 2">
            <a:extLst>
              <a:ext uri="{FF2B5EF4-FFF2-40B4-BE49-F238E27FC236}">
                <a16:creationId xmlns:a16="http://schemas.microsoft.com/office/drawing/2014/main" id="{4D339D62-3AC3-247F-94F8-469B85AA6BE3}"/>
              </a:ext>
            </a:extLst>
          </p:cNvPr>
          <p:cNvGraphicFramePr>
            <a:graphicFrameLocks noGrp="1"/>
          </p:cNvGraphicFramePr>
          <p:nvPr>
            <p:ph idx="1"/>
            <p:extLst>
              <p:ext uri="{D42A27DB-BD31-4B8C-83A1-F6EECF244321}">
                <p14:modId xmlns:p14="http://schemas.microsoft.com/office/powerpoint/2010/main" val="2107454506"/>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4428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4" name="Rectangle 53">
            <a:extLst>
              <a:ext uri="{FF2B5EF4-FFF2-40B4-BE49-F238E27FC236}">
                <a16:creationId xmlns:a16="http://schemas.microsoft.com/office/drawing/2014/main" id="{031EA4A4-5D79-4817-B146-24029A2F3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6F0B5B5-B5B1-C0B2-F0F1-903272A6C74B}"/>
              </a:ext>
            </a:extLst>
          </p:cNvPr>
          <p:cNvSpPr>
            <a:spLocks noGrp="1"/>
          </p:cNvSpPr>
          <p:nvPr>
            <p:ph type="title"/>
          </p:nvPr>
        </p:nvSpPr>
        <p:spPr>
          <a:xfrm>
            <a:off x="8073980" y="1122363"/>
            <a:ext cx="3977640" cy="3204134"/>
          </a:xfrm>
        </p:spPr>
        <p:txBody>
          <a:bodyPr vert="horz" lIns="91440" tIns="45720" rIns="91440" bIns="45720" rtlCol="0" anchor="b">
            <a:normAutofit/>
          </a:bodyPr>
          <a:lstStyle/>
          <a:p>
            <a:r>
              <a:rPr lang="en-US" sz="4400"/>
              <a:t>Osmanlı Devleti'nin Kanuni Dönemindeki Toprakları</a:t>
            </a:r>
          </a:p>
        </p:txBody>
      </p:sp>
      <p:pic>
        <p:nvPicPr>
          <p:cNvPr id="7" name="Resim 7" descr="harita içeren bir resim">
            <a:extLst>
              <a:ext uri="{FF2B5EF4-FFF2-40B4-BE49-F238E27FC236}">
                <a16:creationId xmlns:a16="http://schemas.microsoft.com/office/drawing/2014/main" id="{B319B233-FFAA-35B1-D214-496ED90C29EA}"/>
              </a:ext>
            </a:extLst>
          </p:cNvPr>
          <p:cNvPicPr>
            <a:picLocks noChangeAspect="1"/>
          </p:cNvPicPr>
          <p:nvPr/>
        </p:nvPicPr>
        <p:blipFill rotWithShape="1">
          <a:blip r:embed="rId2"/>
          <a:srcRect l="10460" r="1" b="1"/>
          <a:stretch/>
        </p:blipFill>
        <p:spPr>
          <a:xfrm>
            <a:off x="20" y="10"/>
            <a:ext cx="7840294" cy="6857990"/>
          </a:xfrm>
          <a:prstGeom prst="rect">
            <a:avLst/>
          </a:prstGeom>
        </p:spPr>
      </p:pic>
      <p:sp>
        <p:nvSpPr>
          <p:cNvPr id="56" name="Rectangle 5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3977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2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88F4B2C-4959-9D5F-0594-5926A0D5EB09}"/>
              </a:ext>
            </a:extLst>
          </p:cNvPr>
          <p:cNvSpPr>
            <a:spLocks noGrp="1"/>
          </p:cNvSpPr>
          <p:nvPr>
            <p:ph type="title"/>
          </p:nvPr>
        </p:nvSpPr>
        <p:spPr>
          <a:xfrm>
            <a:off x="5080216" y="1076324"/>
            <a:ext cx="6272784" cy="1535051"/>
          </a:xfrm>
        </p:spPr>
        <p:txBody>
          <a:bodyPr anchor="b">
            <a:normAutofit/>
          </a:bodyPr>
          <a:lstStyle/>
          <a:p>
            <a:r>
              <a:rPr lang="tr-TR" sz="3300">
                <a:ea typeface="+mj-lt"/>
                <a:cs typeface="+mj-lt"/>
              </a:rPr>
              <a:t>XV ve XVI. YÜZYILLARDA OSMANLI EKONOMİK POLİTİKALARI</a:t>
            </a:r>
            <a:endParaRPr lang="tr-TR" sz="3300"/>
          </a:p>
        </p:txBody>
      </p:sp>
      <p:pic>
        <p:nvPicPr>
          <p:cNvPr id="5" name="Picture 4" descr="Belgedeki grafik ve bir kalem">
            <a:extLst>
              <a:ext uri="{FF2B5EF4-FFF2-40B4-BE49-F238E27FC236}">
                <a16:creationId xmlns:a16="http://schemas.microsoft.com/office/drawing/2014/main" id="{D88264C7-7FB8-4380-A75E-D4388EB33D14}"/>
              </a:ext>
            </a:extLst>
          </p:cNvPr>
          <p:cNvPicPr>
            <a:picLocks noChangeAspect="1"/>
          </p:cNvPicPr>
          <p:nvPr/>
        </p:nvPicPr>
        <p:blipFill rotWithShape="1">
          <a:blip r:embed="rId2"/>
          <a:srcRect l="35132" r="21081" b="-3"/>
          <a:stretch/>
        </p:blipFill>
        <p:spPr>
          <a:xfrm>
            <a:off x="20" y="10"/>
            <a:ext cx="4505305" cy="6857990"/>
          </a:xfrm>
          <a:prstGeom prst="rect">
            <a:avLst/>
          </a:prstGeom>
        </p:spPr>
      </p:pic>
      <p:sp>
        <p:nvSpPr>
          <p:cNvPr id="11"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AB050CB6-93A6-6B42-2618-D98C0D8A4621}"/>
              </a:ext>
            </a:extLst>
          </p:cNvPr>
          <p:cNvSpPr>
            <a:spLocks noGrp="1"/>
          </p:cNvSpPr>
          <p:nvPr>
            <p:ph idx="1"/>
          </p:nvPr>
        </p:nvSpPr>
        <p:spPr>
          <a:xfrm>
            <a:off x="5080216" y="3351276"/>
            <a:ext cx="6272784" cy="2825686"/>
          </a:xfrm>
        </p:spPr>
        <p:txBody>
          <a:bodyPr vert="horz" lIns="91440" tIns="45720" rIns="91440" bIns="45720" rtlCol="0" anchor="t">
            <a:normAutofit/>
          </a:bodyPr>
          <a:lstStyle/>
          <a:p>
            <a:pPr marL="0" indent="0">
              <a:lnSpc>
                <a:spcPct val="100000"/>
              </a:lnSpc>
              <a:buNone/>
            </a:pPr>
            <a:r>
              <a:rPr lang="tr-TR" sz="1500" dirty="0">
                <a:ea typeface="+mn-lt"/>
                <a:cs typeface="+mn-lt"/>
              </a:rPr>
              <a:t>Osmanlı ekonomisi büyük ölçüde tarım ve hayvancılığa dayalı idi. Ancak zamanla sınırlarının genişlemesi, denizlerde hâkimiyet kurulması ve birçok ülke ile sınır komşusu olunmasına bağlı olarak Osmanlı Devleti’nde ticari faaliyetler de gelişti. Özellikle Akdeniz ve Karadeniz arasında bağlantının kurulması, İpek ve Baharat Yolları’nın büyük ölçüde denetim altına alınması, Osmanlı ticari faaliyetlerine ivme kazandırdı. Ayrıca ticaretin gelişmesi için önemli tedbirler de alındı. Örneğin Fatih Sultan Mehmet, Venediklilerle uzun vadeli ticaret yapmak amacıyla kendilerine, İstanbul’da balyos (elçi) bulundurma hakkı verdi ve birtakım gümrük kolaylıkları sağladı.</a:t>
            </a:r>
            <a:endParaRPr lang="tr-TR" sz="1500" dirty="0"/>
          </a:p>
        </p:txBody>
      </p:sp>
    </p:spTree>
    <p:extLst>
      <p:ext uri="{BB962C8B-B14F-4D97-AF65-F5344CB8AC3E}">
        <p14:creationId xmlns:p14="http://schemas.microsoft.com/office/powerpoint/2010/main" val="1129946499"/>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17</Slides>
  <Notes>0</Notes>
  <HiddenSlides>0</HiddenSlides>
  <MMClips>0</MMClips>
  <ScaleCrop>false</ScaleCrop>
  <HeadingPairs>
    <vt:vector size="4" baseType="variant">
      <vt:variant>
        <vt:lpstr>Tema</vt:lpstr>
      </vt:variant>
      <vt:variant>
        <vt:i4>1</vt:i4>
      </vt:variant>
      <vt:variant>
        <vt:lpstr>Slayt Başlıkları</vt:lpstr>
      </vt:variant>
      <vt:variant>
        <vt:i4>17</vt:i4>
      </vt:variant>
    </vt:vector>
  </HeadingPairs>
  <TitlesOfParts>
    <vt:vector size="18" baseType="lpstr">
      <vt:lpstr>AccentBoxVTI</vt:lpstr>
      <vt:lpstr>5.5 KANUNİ DÖNEMİ VE BATI-DOĞU'DAKİ GELİŞMELER</vt:lpstr>
      <vt:lpstr>Kanuni Dönemi</vt:lpstr>
      <vt:lpstr>Kanuni Dönemi</vt:lpstr>
      <vt:lpstr>Osmanlı-Macar İlişkileri</vt:lpstr>
      <vt:lpstr>Belgradı'ın Fethi (1521)</vt:lpstr>
      <vt:lpstr>Mohaç Meydan Savaşı (1526)</vt:lpstr>
      <vt:lpstr>Mohaç Meydan Savaşı Sonuçları</vt:lpstr>
      <vt:lpstr>Osmanlı-Avusturya İlişkileri</vt:lpstr>
      <vt:lpstr>Viyana Kuşatması (1529)</vt:lpstr>
      <vt:lpstr>Almanya Seferi (1532)</vt:lpstr>
      <vt:lpstr> Avusturya-İstanbul Antlaşması (1533)</vt:lpstr>
      <vt:lpstr>İstanbul Antlaşması Sonuçları</vt:lpstr>
      <vt:lpstr>Osmanlı-İran İlişkileri</vt:lpstr>
      <vt:lpstr>Doğu'daki gelişmeler</vt:lpstr>
      <vt:lpstr>Amasya Antlaşması (1555)</vt:lpstr>
      <vt:lpstr>Osmanlı Devleti'nin Kanuni Dönemindeki Toprakları</vt:lpstr>
      <vt:lpstr>XV ve XVI. YÜZYILLARDA OSMANLI EKONOMİK POLİTİKALARI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
  <cp:lastModifiedBy/>
  <cp:revision>240</cp:revision>
  <dcterms:created xsi:type="dcterms:W3CDTF">2023-05-17T05:40:13Z</dcterms:created>
  <dcterms:modified xsi:type="dcterms:W3CDTF">2023-05-17T06:41:50Z</dcterms:modified>
</cp:coreProperties>
</file>